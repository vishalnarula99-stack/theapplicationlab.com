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3F"/>
          </a:solidFill>
          <a:ln>
            <a:noFill/>
          </a:ln>
          <a:effectLst/>
        </p:spPr>
        <p:txBody>
          <a:bodyPr rtlCol="0" anchor="ctr"/>
          <a:lstStyle/>
          <a:p>
            <a:pPr algn="ctr"/>
          </a:p>
        </p:txBody>
      </p:sp>
      <p:sp>
        <p:nvSpPr>
          <p:cNvPr id="3" name="Rounded Rectangle 2"/>
          <p:cNvSpPr/>
          <p:nvPr/>
        </p:nvSpPr>
        <p:spPr>
          <a:xfrm>
            <a:off x="640080" y="502920"/>
            <a:ext cx="2148840" cy="960120"/>
          </a:xfrm>
          <a:prstGeom prst="roundRect">
            <a:avLst>
              <a:gd name="adj" fmla="val 12000"/>
            </a:avLst>
          </a:prstGeom>
          <a:solidFill>
            <a:srgbClr val="FFFFFF"/>
          </a:solidFill>
          <a:ln>
            <a:noFill/>
          </a:ln>
          <a:effectLst/>
        </p:spPr>
        <p:txBody>
          <a:bodyPr rtlCol="0" anchor="ctr"/>
          <a:lstStyle/>
          <a:p>
            <a:pPr algn="ctr"/>
          </a:p>
        </p:txBody>
      </p:sp>
      <p:pic>
        <p:nvPicPr>
          <p:cNvPr id="4" name="Picture 3" descr="logo.png"/>
          <p:cNvPicPr>
            <a:picLocks noChangeAspect="1"/>
          </p:cNvPicPr>
          <p:nvPr/>
        </p:nvPicPr>
        <p:blipFill>
          <a:blip r:embed="rId2"/>
          <a:stretch>
            <a:fillRect/>
          </a:stretch>
        </p:blipFill>
        <p:spPr>
          <a:xfrm>
            <a:off x="749808" y="603504"/>
            <a:ext cx="1349248" cy="758952"/>
          </a:xfrm>
          <a:prstGeom prst="rect">
            <a:avLst/>
          </a:prstGeom>
          <a:effectLst/>
        </p:spPr>
      </p:pic>
      <p:sp>
        <p:nvSpPr>
          <p:cNvPr id="5" name="TextBox 4"/>
          <p:cNvSpPr txBox="1"/>
          <p:nvPr/>
        </p:nvSpPr>
        <p:spPr>
          <a:xfrm>
            <a:off x="640080" y="1783080"/>
            <a:ext cx="9875520" cy="1554480"/>
          </a:xfrm>
          <a:prstGeom prst="rect">
            <a:avLst/>
          </a:prstGeom>
          <a:noFill/>
        </p:spPr>
        <p:txBody>
          <a:bodyPr wrap="square" anchor="t" lIns="0" rIns="0" tIns="0" bIns="0">
            <a:spAutoFit/>
          </a:bodyPr>
          <a:lstStyle/>
          <a:p>
            <a:pPr algn="l">
              <a:lnSpc>
                <a:spcPct val="105000"/>
              </a:lnSpc>
              <a:spcAft>
                <a:spcPts val="0"/>
              </a:spcAft>
            </a:pPr>
            <a:r>
              <a:rPr sz="4000" b="1" i="0">
                <a:solidFill>
                  <a:srgbClr val="FFFFFF"/>
                </a:solidFill>
                <a:latin typeface="Arial"/>
              </a:rPr>
              <a:t>Your application, guided by someone who </a:t>
            </a:r>
            <a:r>
              <a:rPr sz="4000" b="1" i="0">
                <a:solidFill>
                  <a:srgbClr val="6BB6EE"/>
                </a:solidFill>
                <a:latin typeface="Arial"/>
              </a:rPr>
              <a:t>has been there.</a:t>
            </a:r>
          </a:p>
        </p:txBody>
      </p:sp>
      <p:sp>
        <p:nvSpPr>
          <p:cNvPr id="6" name="TextBox 5"/>
          <p:cNvSpPr txBox="1"/>
          <p:nvPr/>
        </p:nvSpPr>
        <p:spPr>
          <a:xfrm>
            <a:off x="640080" y="3063240"/>
            <a:ext cx="8778240" cy="1005840"/>
          </a:xfrm>
          <a:prstGeom prst="rect">
            <a:avLst/>
          </a:prstGeom>
          <a:noFill/>
        </p:spPr>
        <p:txBody>
          <a:bodyPr wrap="square" anchor="t" lIns="0" rIns="0" tIns="0" bIns="0">
            <a:spAutoFit/>
          </a:bodyPr>
          <a:lstStyle/>
          <a:p>
            <a:pPr algn="l">
              <a:lnSpc>
                <a:spcPct val="140000"/>
              </a:lnSpc>
              <a:spcAft>
                <a:spcPts val="0"/>
              </a:spcAft>
            </a:pPr>
            <a:r>
              <a:rPr sz="1600" b="0" i="0">
                <a:solidFill>
                  <a:srgbClr val="C3D2E2"/>
                </a:solidFill>
                <a:latin typeface="Arial"/>
              </a:rPr>
              <a:t>Thank you for reaching out. This guide walks you through who we are, what we offer, and how to get started so you can make the most of the support you have asked for.</a:t>
            </a:r>
          </a:p>
        </p:txBody>
      </p:sp>
      <p:sp>
        <p:nvSpPr>
          <p:cNvPr id="7" name="Rectangle 6"/>
          <p:cNvSpPr/>
          <p:nvPr/>
        </p:nvSpPr>
        <p:spPr>
          <a:xfrm>
            <a:off x="640080" y="4343400"/>
            <a:ext cx="6858000" cy="10972"/>
          </a:xfrm>
          <a:prstGeom prst="rect">
            <a:avLst/>
          </a:prstGeom>
          <a:solidFill>
            <a:srgbClr val="33455C"/>
          </a:solidFill>
          <a:ln>
            <a:noFill/>
          </a:ln>
          <a:effectLst/>
        </p:spPr>
        <p:txBody>
          <a:bodyPr rtlCol="0" anchor="ctr"/>
          <a:lstStyle/>
          <a:p>
            <a:pPr algn="ctr"/>
          </a:p>
        </p:txBody>
      </p:sp>
      <p:sp>
        <p:nvSpPr>
          <p:cNvPr id="8" name="TextBox 7"/>
          <p:cNvSpPr txBox="1"/>
          <p:nvPr/>
        </p:nvSpPr>
        <p:spPr>
          <a:xfrm>
            <a:off x="640080" y="4572000"/>
            <a:ext cx="5486400" cy="457200"/>
          </a:xfrm>
          <a:prstGeom prst="rect">
            <a:avLst/>
          </a:prstGeom>
          <a:noFill/>
        </p:spPr>
        <p:txBody>
          <a:bodyPr wrap="square" anchor="t" lIns="0" rIns="0" tIns="0" bIns="0">
            <a:spAutoFit/>
          </a:bodyPr>
          <a:lstStyle/>
          <a:p>
            <a:pPr algn="l">
              <a:lnSpc>
                <a:spcPct val="115000"/>
              </a:lnSpc>
              <a:spcAft>
                <a:spcPts val="0"/>
              </a:spcAft>
            </a:pPr>
            <a:r>
              <a:rPr sz="1500" b="0" i="1">
                <a:solidFill>
                  <a:srgbClr val="9CB3C9"/>
                </a:solidFill>
                <a:latin typeface="Georgia"/>
              </a:rPr>
              <a:t>Real guidance. Shared journeys.</a:t>
            </a:r>
          </a:p>
        </p:txBody>
      </p:sp>
      <p:sp>
        <p:nvSpPr>
          <p:cNvPr id="9" name="TextBox 8"/>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WHO WE ARE</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3000" b="1" i="0">
                <a:solidFill>
                  <a:srgbClr val="16283F"/>
                </a:solidFill>
                <a:latin typeface="Arial"/>
              </a:rPr>
              <a:t>We built TAL because we needed it and it did not exist.</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TextBox 5"/>
          <p:cNvSpPr txBox="1"/>
          <p:nvPr/>
        </p:nvSpPr>
        <p:spPr>
          <a:xfrm>
            <a:off x="640080" y="1965960"/>
            <a:ext cx="10881360" cy="1188720"/>
          </a:xfrm>
          <a:prstGeom prst="rect">
            <a:avLst/>
          </a:prstGeom>
          <a:noFill/>
        </p:spPr>
        <p:txBody>
          <a:bodyPr wrap="square" anchor="t" lIns="0" rIns="0" tIns="0" bIns="0">
            <a:spAutoFit/>
          </a:bodyPr>
          <a:lstStyle/>
          <a:p>
            <a:pPr algn="l">
              <a:lnSpc>
                <a:spcPct val="135000"/>
              </a:lnSpc>
              <a:spcAft>
                <a:spcPts val="0"/>
              </a:spcAft>
            </a:pPr>
            <a:r>
              <a:rPr sz="1500" b="0" i="0">
                <a:solidFill>
                  <a:srgbClr val="3E4E60"/>
                </a:solidFill>
                <a:latin typeface="Arial"/>
              </a:rPr>
              <a:t>The Application Lab was founded in 2025 by people who went through competitive international applications with almost no support. It was not just the paperwork. The confusion about what selectors actually want, the hours spent second guessing yourself, the feeling that everyone else somehow knew something you did not. We wanted to build something we wished had existed when we were applying.</a:t>
            </a:r>
          </a:p>
        </p:txBody>
      </p:sp>
      <p:sp>
        <p:nvSpPr>
          <p:cNvPr id="7" name="Rounded Rectangle 6"/>
          <p:cNvSpPr/>
          <p:nvPr/>
        </p:nvSpPr>
        <p:spPr>
          <a:xfrm>
            <a:off x="640080" y="3429000"/>
            <a:ext cx="10881360" cy="1417320"/>
          </a:xfrm>
          <a:prstGeom prst="roundRect">
            <a:avLst>
              <a:gd name="adj" fmla="val 6000"/>
            </a:avLst>
          </a:prstGeom>
          <a:solidFill>
            <a:srgbClr val="EAF3FB"/>
          </a:solidFill>
          <a:ln>
            <a:noFill/>
          </a:ln>
          <a:effectLst/>
        </p:spPr>
        <p:txBody>
          <a:bodyPr rtlCol="0" anchor="ctr"/>
          <a:lstStyle/>
          <a:p>
            <a:pPr algn="ctr"/>
          </a:p>
        </p:txBody>
      </p:sp>
      <p:sp>
        <p:nvSpPr>
          <p:cNvPr id="8" name="Rectangle 7"/>
          <p:cNvSpPr/>
          <p:nvPr/>
        </p:nvSpPr>
        <p:spPr>
          <a:xfrm>
            <a:off x="640080" y="3429000"/>
            <a:ext cx="64008" cy="1417320"/>
          </a:xfrm>
          <a:prstGeom prst="rect">
            <a:avLst/>
          </a:prstGeom>
          <a:solidFill>
            <a:srgbClr val="2D7FBF"/>
          </a:solidFill>
          <a:ln>
            <a:noFill/>
          </a:ln>
          <a:effectLst/>
        </p:spPr>
        <p:txBody>
          <a:bodyPr rtlCol="0" anchor="ctr"/>
          <a:lstStyle/>
          <a:p>
            <a:pPr algn="ctr"/>
          </a:p>
        </p:txBody>
      </p:sp>
      <p:sp>
        <p:nvSpPr>
          <p:cNvPr id="9" name="TextBox 8"/>
          <p:cNvSpPr txBox="1"/>
          <p:nvPr/>
        </p:nvSpPr>
        <p:spPr>
          <a:xfrm>
            <a:off x="1005840" y="3611880"/>
            <a:ext cx="10195560" cy="1188720"/>
          </a:xfrm>
          <a:prstGeom prst="rect">
            <a:avLst/>
          </a:prstGeom>
          <a:noFill/>
        </p:spPr>
        <p:txBody>
          <a:bodyPr wrap="square" anchor="t" lIns="0" rIns="0" tIns="0" bIns="0">
            <a:spAutoFit/>
          </a:bodyPr>
          <a:lstStyle/>
          <a:p>
            <a:pPr algn="l">
              <a:lnSpc>
                <a:spcPct val="130000"/>
              </a:lnSpc>
              <a:spcAft>
                <a:spcPts val="800"/>
              </a:spcAft>
            </a:pPr>
            <a:r>
              <a:rPr sz="1550" b="0" i="1">
                <a:solidFill>
                  <a:srgbClr val="243447"/>
                </a:solidFill>
                <a:latin typeface="Georgia"/>
              </a:rPr>
              <a:t>"The problem is not that students lack ability. It is that the right guidance has never reached the right people. We are trying to change that, one application at a time."</a:t>
            </a:r>
          </a:p>
          <a:p>
            <a:pPr algn="l">
              <a:lnSpc>
                <a:spcPct val="115000"/>
              </a:lnSpc>
              <a:spcAft>
                <a:spcPts val="600"/>
              </a:spcAft>
            </a:pPr>
            <a:r>
              <a:rPr sz="1150" b="1" i="0">
                <a:solidFill>
                  <a:srgbClr val="2D7FBF"/>
                </a:solidFill>
                <a:latin typeface="Arial"/>
              </a:rPr>
              <a:t>THE FOUNDERS, CAMBRIDGE 2025</a:t>
            </a:r>
          </a:p>
        </p:txBody>
      </p:sp>
      <p:sp>
        <p:nvSpPr>
          <p:cNvPr id="10" name="TextBox 9"/>
          <p:cNvSpPr txBox="1"/>
          <p:nvPr/>
        </p:nvSpPr>
        <p:spPr>
          <a:xfrm>
            <a:off x="640080" y="5257800"/>
            <a:ext cx="10881360" cy="457200"/>
          </a:xfrm>
          <a:prstGeom prst="rect">
            <a:avLst/>
          </a:prstGeom>
          <a:noFill/>
        </p:spPr>
        <p:txBody>
          <a:bodyPr wrap="square" anchor="t" lIns="0" rIns="0" tIns="0" bIns="0">
            <a:spAutoFit/>
          </a:bodyPr>
          <a:lstStyle/>
          <a:p>
            <a:pPr algn="l">
              <a:lnSpc>
                <a:spcPct val="115000"/>
              </a:lnSpc>
              <a:spcAft>
                <a:spcPts val="0"/>
              </a:spcAft>
            </a:pPr>
            <a:r>
              <a:rPr sz="1350" b="0" i="1">
                <a:solidFill>
                  <a:srgbClr val="55677C"/>
                </a:solidFill>
                <a:latin typeface="Georgia"/>
              </a:rPr>
              <a:t>Two people who applied with almost no support, and built the guide they wished they'd had.</a:t>
            </a:r>
          </a:p>
        </p:txBody>
      </p:sp>
      <p:sp>
        <p:nvSpPr>
          <p:cNvPr id="11" name="TextBox 10"/>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OUR FOUNDERS</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3000" b="1" i="0">
                <a:solidFill>
                  <a:srgbClr val="16283F"/>
                </a:solidFill>
                <a:latin typeface="Arial"/>
              </a:rPr>
              <a:t>People who have walked this path themselves.</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Rounded Rectangle 5"/>
          <p:cNvSpPr/>
          <p:nvPr/>
        </p:nvSpPr>
        <p:spPr>
          <a:xfrm>
            <a:off x="640080" y="1965960"/>
            <a:ext cx="5257800" cy="4343400"/>
          </a:xfrm>
          <a:prstGeom prst="roundRect">
            <a:avLst>
              <a:gd name="adj" fmla="val 3000"/>
            </a:avLst>
          </a:prstGeom>
          <a:solidFill>
            <a:srgbClr val="16283F"/>
          </a:solidFill>
          <a:ln>
            <a:noFill/>
          </a:ln>
          <a:effectLst/>
        </p:spPr>
        <p:txBody>
          <a:bodyPr rtlCol="0" anchor="ctr"/>
          <a:lstStyle/>
          <a:p>
            <a:pPr algn="ctr"/>
          </a:p>
        </p:txBody>
      </p:sp>
      <p:pic>
        <p:nvPicPr>
          <p:cNvPr id="7" name="Picture 6" descr="kanupriya_avatar.jpg"/>
          <p:cNvPicPr>
            <a:picLocks noChangeAspect="1"/>
          </p:cNvPicPr>
          <p:nvPr/>
        </p:nvPicPr>
        <p:blipFill>
          <a:blip r:embed="rId2"/>
          <a:stretch>
            <a:fillRect/>
          </a:stretch>
        </p:blipFill>
        <p:spPr>
          <a:xfrm>
            <a:off x="1005840" y="2286000"/>
            <a:ext cx="1371600" cy="1371600"/>
          </a:xfrm>
          <a:prstGeom prst="ellipse">
            <a:avLst/>
          </a:prstGeom>
          <a:effectLst/>
          <a:ln w="22225">
            <a:solidFill>
              <a:srgbClr val="4AA3DF"/>
            </a:solidFill>
          </a:ln>
        </p:spPr>
      </p:pic>
      <p:sp>
        <p:nvSpPr>
          <p:cNvPr id="8" name="TextBox 7"/>
          <p:cNvSpPr txBox="1"/>
          <p:nvPr/>
        </p:nvSpPr>
        <p:spPr>
          <a:xfrm>
            <a:off x="2651760" y="2542032"/>
            <a:ext cx="2926080" cy="365760"/>
          </a:xfrm>
          <a:prstGeom prst="rect">
            <a:avLst/>
          </a:prstGeom>
          <a:noFill/>
        </p:spPr>
        <p:txBody>
          <a:bodyPr wrap="square" anchor="t" lIns="0" rIns="0" tIns="0" bIns="0">
            <a:spAutoFit/>
          </a:bodyPr>
          <a:lstStyle/>
          <a:p>
            <a:pPr algn="l">
              <a:lnSpc>
                <a:spcPct val="115000"/>
              </a:lnSpc>
              <a:spcAft>
                <a:spcPts val="0"/>
              </a:spcAft>
            </a:pPr>
            <a:r>
              <a:rPr sz="1900" b="1" i="0">
                <a:solidFill>
                  <a:srgbClr val="FFFFFF"/>
                </a:solidFill>
                <a:latin typeface="Arial"/>
              </a:rPr>
              <a:t>Dr Kanupriya Sharma</a:t>
            </a:r>
          </a:p>
        </p:txBody>
      </p:sp>
      <p:sp>
        <p:nvSpPr>
          <p:cNvPr id="9" name="TextBox 8"/>
          <p:cNvSpPr txBox="1"/>
          <p:nvPr/>
        </p:nvSpPr>
        <p:spPr>
          <a:xfrm>
            <a:off x="2651760" y="2907792"/>
            <a:ext cx="2926080" cy="274320"/>
          </a:xfrm>
          <a:prstGeom prst="rect">
            <a:avLst/>
          </a:prstGeom>
          <a:noFill/>
        </p:spPr>
        <p:txBody>
          <a:bodyPr wrap="square" anchor="t" lIns="0" rIns="0" tIns="0" bIns="0">
            <a:spAutoFit/>
          </a:bodyPr>
          <a:lstStyle/>
          <a:p>
            <a:pPr algn="l">
              <a:lnSpc>
                <a:spcPct val="115000"/>
              </a:lnSpc>
              <a:spcAft>
                <a:spcPts val="0"/>
              </a:spcAft>
            </a:pPr>
            <a:r>
              <a:rPr sz="1100" b="1" i="0" spc="120">
                <a:solidFill>
                  <a:srgbClr val="6BB6EE"/>
                </a:solidFill>
                <a:latin typeface="Arial"/>
              </a:rPr>
              <a:t>CO-FOUNDER</a:t>
            </a:r>
          </a:p>
        </p:txBody>
      </p:sp>
      <p:sp>
        <p:nvSpPr>
          <p:cNvPr id="10" name="Rectangle 9"/>
          <p:cNvSpPr/>
          <p:nvPr/>
        </p:nvSpPr>
        <p:spPr>
          <a:xfrm>
            <a:off x="2651760" y="3246120"/>
            <a:ext cx="365760" cy="27432"/>
          </a:xfrm>
          <a:prstGeom prst="rect">
            <a:avLst/>
          </a:prstGeom>
          <a:solidFill>
            <a:srgbClr val="3A5776"/>
          </a:solidFill>
          <a:ln>
            <a:noFill/>
          </a:ln>
          <a:effectLst/>
        </p:spPr>
        <p:txBody>
          <a:bodyPr rtlCol="0" anchor="ctr"/>
          <a:lstStyle/>
          <a:p>
            <a:pPr algn="ctr"/>
          </a:p>
        </p:txBody>
      </p:sp>
      <p:sp>
        <p:nvSpPr>
          <p:cNvPr id="11" name="TextBox 10"/>
          <p:cNvSpPr txBox="1"/>
          <p:nvPr/>
        </p:nvSpPr>
        <p:spPr>
          <a:xfrm>
            <a:off x="1005840" y="3913632"/>
            <a:ext cx="4526280" cy="1097280"/>
          </a:xfrm>
          <a:prstGeom prst="rect">
            <a:avLst/>
          </a:prstGeom>
          <a:noFill/>
        </p:spPr>
        <p:txBody>
          <a:bodyPr wrap="square" anchor="t" lIns="0" rIns="0" tIns="0" bIns="0">
            <a:spAutoFit/>
          </a:bodyPr>
          <a:lstStyle/>
          <a:p>
            <a:pPr algn="l">
              <a:lnSpc>
                <a:spcPct val="132000"/>
              </a:lnSpc>
              <a:spcAft>
                <a:spcPts val="0"/>
              </a:spcAft>
            </a:pPr>
            <a:r>
              <a:rPr sz="1150" b="0" i="0">
                <a:solidFill>
                  <a:srgbClr val="B7C6D6"/>
                </a:solidFill>
                <a:latin typeface="Arial"/>
              </a:rPr>
              <a:t>PhD &amp; MPhil in Criminology at Cambridge as a Gates Cambridge Scholar. Nigel Walker Prize (2026). Postdoctoral research fellow on a Leverhulme-funded project at Nottingham, endorsed under the UK Global Talent Visa (UKRI Route 3).</a:t>
            </a:r>
          </a:p>
        </p:txBody>
      </p:sp>
      <p:sp>
        <p:nvSpPr>
          <p:cNvPr id="12" name="Rounded Rectangle 11"/>
          <p:cNvSpPr/>
          <p:nvPr/>
        </p:nvSpPr>
        <p:spPr>
          <a:xfrm>
            <a:off x="1005840" y="5084064"/>
            <a:ext cx="1751990"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Gates Cambridge Scholar</a:t>
            </a:r>
          </a:p>
        </p:txBody>
      </p:sp>
      <p:sp>
        <p:nvSpPr>
          <p:cNvPr id="13" name="Rounded Rectangle 12"/>
          <p:cNvSpPr/>
          <p:nvPr/>
        </p:nvSpPr>
        <p:spPr>
          <a:xfrm>
            <a:off x="2885846" y="5084064"/>
            <a:ext cx="1093622"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PhD Cambridge</a:t>
            </a:r>
          </a:p>
        </p:txBody>
      </p:sp>
      <p:sp>
        <p:nvSpPr>
          <p:cNvPr id="14" name="Rounded Rectangle 13"/>
          <p:cNvSpPr/>
          <p:nvPr/>
        </p:nvSpPr>
        <p:spPr>
          <a:xfrm>
            <a:off x="1005840" y="5522976"/>
            <a:ext cx="1751990"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Nigel Walker Prize 2026</a:t>
            </a:r>
          </a:p>
        </p:txBody>
      </p:sp>
      <p:sp>
        <p:nvSpPr>
          <p:cNvPr id="15" name="Rounded Rectangle 14"/>
          <p:cNvSpPr/>
          <p:nvPr/>
        </p:nvSpPr>
        <p:spPr>
          <a:xfrm>
            <a:off x="2885846" y="5522976"/>
            <a:ext cx="1291132"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UK Global Talent</a:t>
            </a:r>
          </a:p>
        </p:txBody>
      </p:sp>
      <p:sp>
        <p:nvSpPr>
          <p:cNvPr id="16" name="Rounded Rectangle 15"/>
          <p:cNvSpPr/>
          <p:nvPr/>
        </p:nvSpPr>
        <p:spPr>
          <a:xfrm>
            <a:off x="6263640" y="1965960"/>
            <a:ext cx="5257800" cy="4343400"/>
          </a:xfrm>
          <a:prstGeom prst="roundRect">
            <a:avLst>
              <a:gd name="adj" fmla="val 3000"/>
            </a:avLst>
          </a:prstGeom>
          <a:solidFill>
            <a:srgbClr val="16283F"/>
          </a:solidFill>
          <a:ln>
            <a:noFill/>
          </a:ln>
          <a:effectLst/>
        </p:spPr>
        <p:txBody>
          <a:bodyPr rtlCol="0" anchor="ctr"/>
          <a:lstStyle/>
          <a:p>
            <a:pPr algn="ctr"/>
          </a:p>
        </p:txBody>
      </p:sp>
      <p:pic>
        <p:nvPicPr>
          <p:cNvPr id="17" name="Picture 16" descr="vishal_avatar.jpg"/>
          <p:cNvPicPr>
            <a:picLocks noChangeAspect="1"/>
          </p:cNvPicPr>
          <p:nvPr/>
        </p:nvPicPr>
        <p:blipFill>
          <a:blip r:embed="rId3"/>
          <a:stretch>
            <a:fillRect/>
          </a:stretch>
        </p:blipFill>
        <p:spPr>
          <a:xfrm>
            <a:off x="6629400" y="2286000"/>
            <a:ext cx="1371600" cy="1371600"/>
          </a:xfrm>
          <a:prstGeom prst="ellipse">
            <a:avLst/>
          </a:prstGeom>
          <a:effectLst/>
          <a:ln w="22225">
            <a:solidFill>
              <a:srgbClr val="4AA3DF"/>
            </a:solidFill>
          </a:ln>
        </p:spPr>
      </p:pic>
      <p:sp>
        <p:nvSpPr>
          <p:cNvPr id="18" name="TextBox 17"/>
          <p:cNvSpPr txBox="1"/>
          <p:nvPr/>
        </p:nvSpPr>
        <p:spPr>
          <a:xfrm>
            <a:off x="8275320" y="2542032"/>
            <a:ext cx="2926079" cy="365760"/>
          </a:xfrm>
          <a:prstGeom prst="rect">
            <a:avLst/>
          </a:prstGeom>
          <a:noFill/>
        </p:spPr>
        <p:txBody>
          <a:bodyPr wrap="square" anchor="t" lIns="0" rIns="0" tIns="0" bIns="0">
            <a:spAutoFit/>
          </a:bodyPr>
          <a:lstStyle/>
          <a:p>
            <a:pPr algn="l">
              <a:lnSpc>
                <a:spcPct val="115000"/>
              </a:lnSpc>
              <a:spcAft>
                <a:spcPts val="0"/>
              </a:spcAft>
            </a:pPr>
            <a:r>
              <a:rPr sz="1900" b="1" i="0">
                <a:solidFill>
                  <a:srgbClr val="FFFFFF"/>
                </a:solidFill>
                <a:latin typeface="Arial"/>
              </a:rPr>
              <a:t>Vishal Narula</a:t>
            </a:r>
          </a:p>
        </p:txBody>
      </p:sp>
      <p:sp>
        <p:nvSpPr>
          <p:cNvPr id="19" name="TextBox 18"/>
          <p:cNvSpPr txBox="1"/>
          <p:nvPr/>
        </p:nvSpPr>
        <p:spPr>
          <a:xfrm>
            <a:off x="8275320" y="2907792"/>
            <a:ext cx="2926079" cy="274320"/>
          </a:xfrm>
          <a:prstGeom prst="rect">
            <a:avLst/>
          </a:prstGeom>
          <a:noFill/>
        </p:spPr>
        <p:txBody>
          <a:bodyPr wrap="square" anchor="t" lIns="0" rIns="0" tIns="0" bIns="0">
            <a:spAutoFit/>
          </a:bodyPr>
          <a:lstStyle/>
          <a:p>
            <a:pPr algn="l">
              <a:lnSpc>
                <a:spcPct val="115000"/>
              </a:lnSpc>
              <a:spcAft>
                <a:spcPts val="0"/>
              </a:spcAft>
            </a:pPr>
            <a:r>
              <a:rPr sz="1100" b="1" i="0" spc="120">
                <a:solidFill>
                  <a:srgbClr val="6BB6EE"/>
                </a:solidFill>
                <a:latin typeface="Arial"/>
              </a:rPr>
              <a:t>CO-FOUNDER</a:t>
            </a:r>
          </a:p>
        </p:txBody>
      </p:sp>
      <p:sp>
        <p:nvSpPr>
          <p:cNvPr id="20" name="Rectangle 19"/>
          <p:cNvSpPr/>
          <p:nvPr/>
        </p:nvSpPr>
        <p:spPr>
          <a:xfrm>
            <a:off x="8275320" y="3246120"/>
            <a:ext cx="365760" cy="27432"/>
          </a:xfrm>
          <a:prstGeom prst="rect">
            <a:avLst/>
          </a:prstGeom>
          <a:solidFill>
            <a:srgbClr val="3A5776"/>
          </a:solidFill>
          <a:ln>
            <a:noFill/>
          </a:ln>
          <a:effectLst/>
        </p:spPr>
        <p:txBody>
          <a:bodyPr rtlCol="0" anchor="ctr"/>
          <a:lstStyle/>
          <a:p>
            <a:pPr algn="ctr"/>
          </a:p>
        </p:txBody>
      </p:sp>
      <p:sp>
        <p:nvSpPr>
          <p:cNvPr id="21" name="TextBox 20"/>
          <p:cNvSpPr txBox="1"/>
          <p:nvPr/>
        </p:nvSpPr>
        <p:spPr>
          <a:xfrm>
            <a:off x="6629400" y="3913632"/>
            <a:ext cx="4526280" cy="1097280"/>
          </a:xfrm>
          <a:prstGeom prst="rect">
            <a:avLst/>
          </a:prstGeom>
          <a:noFill/>
        </p:spPr>
        <p:txBody>
          <a:bodyPr wrap="square" anchor="t" lIns="0" rIns="0" tIns="0" bIns="0">
            <a:spAutoFit/>
          </a:bodyPr>
          <a:lstStyle/>
          <a:p>
            <a:pPr algn="l">
              <a:lnSpc>
                <a:spcPct val="132000"/>
              </a:lnSpc>
              <a:spcAft>
                <a:spcPts val="0"/>
              </a:spcAft>
            </a:pPr>
            <a:r>
              <a:rPr sz="1150" b="0" i="0">
                <a:solidFill>
                  <a:srgbClr val="B7C6D6"/>
                </a:solidFill>
                <a:latin typeface="Arial"/>
              </a:rPr>
              <a:t>MPhil in Engineering for Sustainable Development at Cambridge as a GREAT Cambridge and Cambridge Trust Scholar. Shortlisted for Chevening and the Commonwealth Shared Scholarship. Recognised as a UK Tech Nation Global Talent.</a:t>
            </a:r>
          </a:p>
        </p:txBody>
      </p:sp>
      <p:sp>
        <p:nvSpPr>
          <p:cNvPr id="22" name="Rounded Rectangle 21"/>
          <p:cNvSpPr/>
          <p:nvPr/>
        </p:nvSpPr>
        <p:spPr>
          <a:xfrm>
            <a:off x="6629400" y="5084064"/>
            <a:ext cx="1751990"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GREAT Cambridge Scholar</a:t>
            </a:r>
          </a:p>
        </p:txBody>
      </p:sp>
      <p:sp>
        <p:nvSpPr>
          <p:cNvPr id="23" name="Rounded Rectangle 22"/>
          <p:cNvSpPr/>
          <p:nvPr/>
        </p:nvSpPr>
        <p:spPr>
          <a:xfrm>
            <a:off x="8509406" y="5084064"/>
            <a:ext cx="1225295"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MPhil Cambridge</a:t>
            </a:r>
          </a:p>
        </p:txBody>
      </p:sp>
      <p:sp>
        <p:nvSpPr>
          <p:cNvPr id="24" name="Rounded Rectangle 23"/>
          <p:cNvSpPr/>
          <p:nvPr/>
        </p:nvSpPr>
        <p:spPr>
          <a:xfrm>
            <a:off x="6629400" y="5522976"/>
            <a:ext cx="1620316" cy="310896"/>
          </a:xfrm>
          <a:prstGeom prst="roundRect">
            <a:avLst>
              <a:gd name="adj" fmla="val 50000"/>
            </a:avLst>
          </a:prstGeom>
          <a:solidFill>
            <a:srgbClr val="1E334D"/>
          </a:solidFill>
          <a:ln w="12700">
            <a:solidFill>
              <a:srgbClr val="3A5776"/>
            </a:solidFill>
          </a:ln>
          <a:effectLst/>
        </p:spPr>
        <p:txBody>
          <a:bodyPr rtlCol="0" anchor="ctr" wrap="none" lIns="0" rIns="0" tIns="0" bIns="0"/>
          <a:lstStyle/>
          <a:p>
            <a:pPr algn="ctr"/>
            <a:r>
              <a:rPr sz="1000" b="0">
                <a:solidFill>
                  <a:srgbClr val="9CCFF2"/>
                </a:solidFill>
                <a:latin typeface="Arial"/>
              </a:rPr>
              <a:t>UK Tech Nation Talent</a:t>
            </a:r>
          </a:p>
        </p:txBody>
      </p:sp>
      <p:sp>
        <p:nvSpPr>
          <p:cNvPr id="25" name="TextBox 24"/>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OUR IMPACT</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3000" b="1" i="0">
                <a:solidFill>
                  <a:srgbClr val="16283F"/>
                </a:solidFill>
                <a:latin typeface="Arial"/>
              </a:rPr>
              <a:t>Results our mentees can point to.</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Rounded Rectangle 5"/>
          <p:cNvSpPr/>
          <p:nvPr/>
        </p:nvSpPr>
        <p:spPr>
          <a:xfrm>
            <a:off x="640080" y="1874519"/>
            <a:ext cx="10881360" cy="1188720"/>
          </a:xfrm>
          <a:prstGeom prst="roundRect">
            <a:avLst>
              <a:gd name="adj" fmla="val 5000"/>
            </a:avLst>
          </a:prstGeom>
          <a:solidFill>
            <a:srgbClr val="16283F"/>
          </a:solidFill>
          <a:ln>
            <a:noFill/>
          </a:ln>
          <a:effectLst/>
        </p:spPr>
        <p:txBody>
          <a:bodyPr rtlCol="0" anchor="ctr"/>
          <a:lstStyle/>
          <a:p>
            <a:pPr algn="ctr"/>
          </a:p>
        </p:txBody>
      </p:sp>
      <p:sp>
        <p:nvSpPr>
          <p:cNvPr id="7" name="TextBox 6"/>
          <p:cNvSpPr txBox="1"/>
          <p:nvPr/>
        </p:nvSpPr>
        <p:spPr>
          <a:xfrm>
            <a:off x="640080" y="1920240"/>
            <a:ext cx="10881360" cy="685800"/>
          </a:xfrm>
          <a:prstGeom prst="rect">
            <a:avLst/>
          </a:prstGeom>
          <a:noFill/>
        </p:spPr>
        <p:txBody>
          <a:bodyPr wrap="square" anchor="t" lIns="0" rIns="0" tIns="0" bIns="0">
            <a:spAutoFit/>
          </a:bodyPr>
          <a:lstStyle/>
          <a:p>
            <a:pPr algn="ctr">
              <a:lnSpc>
                <a:spcPct val="115000"/>
              </a:lnSpc>
              <a:spcAft>
                <a:spcPts val="0"/>
              </a:spcAft>
            </a:pPr>
            <a:r>
              <a:rPr sz="4000" b="1" i="0">
                <a:solidFill>
                  <a:srgbClr val="9CCFF2"/>
                </a:solidFill>
                <a:latin typeface="Arial"/>
              </a:rPr>
              <a:t>£2m+</a:t>
            </a:r>
          </a:p>
        </p:txBody>
      </p:sp>
      <p:sp>
        <p:nvSpPr>
          <p:cNvPr id="8" name="TextBox 7"/>
          <p:cNvSpPr txBox="1"/>
          <p:nvPr/>
        </p:nvSpPr>
        <p:spPr>
          <a:xfrm>
            <a:off x="640080" y="2606040"/>
            <a:ext cx="10881360" cy="320040"/>
          </a:xfrm>
          <a:prstGeom prst="rect">
            <a:avLst/>
          </a:prstGeom>
          <a:noFill/>
        </p:spPr>
        <p:txBody>
          <a:bodyPr wrap="square" anchor="t" lIns="0" rIns="0" tIns="0" bIns="0">
            <a:spAutoFit/>
          </a:bodyPr>
          <a:lstStyle/>
          <a:p>
            <a:pPr algn="ctr">
              <a:lnSpc>
                <a:spcPct val="115000"/>
              </a:lnSpc>
              <a:spcAft>
                <a:spcPts val="0"/>
              </a:spcAft>
            </a:pPr>
            <a:r>
              <a:rPr sz="1400" b="1" i="0">
                <a:solidFill>
                  <a:srgbClr val="C3D2E2"/>
                </a:solidFill>
                <a:latin typeface="Arial"/>
              </a:rPr>
              <a:t>in scholarships secured, and counting</a:t>
            </a:r>
          </a:p>
        </p:txBody>
      </p:sp>
      <p:sp>
        <p:nvSpPr>
          <p:cNvPr id="9" name="Rounded Rectangle 8"/>
          <p:cNvSpPr/>
          <p:nvPr/>
        </p:nvSpPr>
        <p:spPr>
          <a:xfrm>
            <a:off x="640080" y="3246120"/>
            <a:ext cx="3502152" cy="1005840"/>
          </a:xfrm>
          <a:prstGeom prst="roundRect">
            <a:avLst>
              <a:gd name="adj" fmla="val 7000"/>
            </a:avLst>
          </a:prstGeom>
          <a:solidFill>
            <a:srgbClr val="FFFFFF"/>
          </a:solidFill>
          <a:ln w="12700">
            <a:solidFill>
              <a:srgbClr val="DCE5EE"/>
            </a:solidFill>
          </a:ln>
          <a:effectLst/>
        </p:spPr>
        <p:txBody>
          <a:bodyPr rtlCol="0" anchor="ctr"/>
          <a:lstStyle/>
          <a:p>
            <a:pPr algn="ctr"/>
          </a:p>
        </p:txBody>
      </p:sp>
      <p:sp>
        <p:nvSpPr>
          <p:cNvPr id="10" name="Rectangle 9"/>
          <p:cNvSpPr/>
          <p:nvPr/>
        </p:nvSpPr>
        <p:spPr>
          <a:xfrm>
            <a:off x="640080" y="3246120"/>
            <a:ext cx="3502152" cy="41148"/>
          </a:xfrm>
          <a:prstGeom prst="rect">
            <a:avLst/>
          </a:prstGeom>
          <a:solidFill>
            <a:srgbClr val="2D7FBF"/>
          </a:solidFill>
          <a:ln>
            <a:noFill/>
          </a:ln>
          <a:effectLst/>
        </p:spPr>
        <p:txBody>
          <a:bodyPr rtlCol="0" anchor="ctr"/>
          <a:lstStyle/>
          <a:p>
            <a:pPr algn="ctr"/>
          </a:p>
        </p:txBody>
      </p:sp>
      <p:sp>
        <p:nvSpPr>
          <p:cNvPr id="11" name="TextBox 10"/>
          <p:cNvSpPr txBox="1"/>
          <p:nvPr/>
        </p:nvSpPr>
        <p:spPr>
          <a:xfrm>
            <a:off x="640080" y="3364992"/>
            <a:ext cx="3502152" cy="457200"/>
          </a:xfrm>
          <a:prstGeom prst="rect">
            <a:avLst/>
          </a:prstGeom>
          <a:noFill/>
        </p:spPr>
        <p:txBody>
          <a:bodyPr wrap="square" anchor="t" lIns="0" rIns="0" tIns="0" bIns="0">
            <a:spAutoFit/>
          </a:bodyPr>
          <a:lstStyle/>
          <a:p>
            <a:pPr algn="ctr">
              <a:lnSpc>
                <a:spcPct val="115000"/>
              </a:lnSpc>
              <a:spcAft>
                <a:spcPts val="0"/>
              </a:spcAft>
            </a:pPr>
            <a:r>
              <a:rPr sz="2400" b="1" i="0">
                <a:solidFill>
                  <a:srgbClr val="16283F"/>
                </a:solidFill>
                <a:latin typeface="Arial"/>
              </a:rPr>
              <a:t>150+</a:t>
            </a:r>
          </a:p>
        </p:txBody>
      </p:sp>
      <p:sp>
        <p:nvSpPr>
          <p:cNvPr id="12" name="TextBox 11"/>
          <p:cNvSpPr txBox="1"/>
          <p:nvPr/>
        </p:nvSpPr>
        <p:spPr>
          <a:xfrm>
            <a:off x="640080" y="3840480"/>
            <a:ext cx="3502152" cy="365760"/>
          </a:xfrm>
          <a:prstGeom prst="rect">
            <a:avLst/>
          </a:prstGeom>
          <a:noFill/>
        </p:spPr>
        <p:txBody>
          <a:bodyPr wrap="square" anchor="t" lIns="0" rIns="0" tIns="0" bIns="0">
            <a:spAutoFit/>
          </a:bodyPr>
          <a:lstStyle/>
          <a:p>
            <a:pPr algn="ctr">
              <a:lnSpc>
                <a:spcPct val="115000"/>
              </a:lnSpc>
              <a:spcAft>
                <a:spcPts val="0"/>
              </a:spcAft>
            </a:pPr>
            <a:r>
              <a:rPr sz="1150" b="0" i="0">
                <a:solidFill>
                  <a:srgbClr val="55677C"/>
                </a:solidFill>
                <a:latin typeface="Arial"/>
              </a:rPr>
              <a:t>mentors globally</a:t>
            </a:r>
          </a:p>
        </p:txBody>
      </p:sp>
      <p:sp>
        <p:nvSpPr>
          <p:cNvPr id="13" name="Rounded Rectangle 12"/>
          <p:cNvSpPr/>
          <p:nvPr/>
        </p:nvSpPr>
        <p:spPr>
          <a:xfrm>
            <a:off x="4325112" y="3246120"/>
            <a:ext cx="3502152" cy="1005840"/>
          </a:xfrm>
          <a:prstGeom prst="roundRect">
            <a:avLst>
              <a:gd name="adj" fmla="val 7000"/>
            </a:avLst>
          </a:prstGeom>
          <a:solidFill>
            <a:srgbClr val="FFFFFF"/>
          </a:solidFill>
          <a:ln w="12700">
            <a:solidFill>
              <a:srgbClr val="DCE5EE"/>
            </a:solidFill>
          </a:ln>
          <a:effectLst/>
        </p:spPr>
        <p:txBody>
          <a:bodyPr rtlCol="0" anchor="ctr"/>
          <a:lstStyle/>
          <a:p>
            <a:pPr algn="ctr"/>
          </a:p>
        </p:txBody>
      </p:sp>
      <p:sp>
        <p:nvSpPr>
          <p:cNvPr id="14" name="Rectangle 13"/>
          <p:cNvSpPr/>
          <p:nvPr/>
        </p:nvSpPr>
        <p:spPr>
          <a:xfrm>
            <a:off x="4325112" y="3246120"/>
            <a:ext cx="3502152" cy="41148"/>
          </a:xfrm>
          <a:prstGeom prst="rect">
            <a:avLst/>
          </a:prstGeom>
          <a:solidFill>
            <a:srgbClr val="2D7FBF"/>
          </a:solidFill>
          <a:ln>
            <a:noFill/>
          </a:ln>
          <a:effectLst/>
        </p:spPr>
        <p:txBody>
          <a:bodyPr rtlCol="0" anchor="ctr"/>
          <a:lstStyle/>
          <a:p>
            <a:pPr algn="ctr"/>
          </a:p>
        </p:txBody>
      </p:sp>
      <p:sp>
        <p:nvSpPr>
          <p:cNvPr id="15" name="TextBox 14"/>
          <p:cNvSpPr txBox="1"/>
          <p:nvPr/>
        </p:nvSpPr>
        <p:spPr>
          <a:xfrm>
            <a:off x="4325112" y="3364992"/>
            <a:ext cx="3502152" cy="457200"/>
          </a:xfrm>
          <a:prstGeom prst="rect">
            <a:avLst/>
          </a:prstGeom>
          <a:noFill/>
        </p:spPr>
        <p:txBody>
          <a:bodyPr wrap="square" anchor="t" lIns="0" rIns="0" tIns="0" bIns="0">
            <a:spAutoFit/>
          </a:bodyPr>
          <a:lstStyle/>
          <a:p>
            <a:pPr algn="ctr">
              <a:lnSpc>
                <a:spcPct val="115000"/>
              </a:lnSpc>
              <a:spcAft>
                <a:spcPts val="0"/>
              </a:spcAft>
            </a:pPr>
            <a:r>
              <a:rPr sz="2400" b="1" i="0">
                <a:solidFill>
                  <a:srgbClr val="16283F"/>
                </a:solidFill>
                <a:latin typeface="Arial"/>
              </a:rPr>
              <a:t>3,000+</a:t>
            </a:r>
          </a:p>
        </p:txBody>
      </p:sp>
      <p:sp>
        <p:nvSpPr>
          <p:cNvPr id="16" name="TextBox 15"/>
          <p:cNvSpPr txBox="1"/>
          <p:nvPr/>
        </p:nvSpPr>
        <p:spPr>
          <a:xfrm>
            <a:off x="4325112" y="3840480"/>
            <a:ext cx="3502152" cy="365760"/>
          </a:xfrm>
          <a:prstGeom prst="rect">
            <a:avLst/>
          </a:prstGeom>
          <a:noFill/>
        </p:spPr>
        <p:txBody>
          <a:bodyPr wrap="square" anchor="t" lIns="0" rIns="0" tIns="0" bIns="0">
            <a:spAutoFit/>
          </a:bodyPr>
          <a:lstStyle/>
          <a:p>
            <a:pPr algn="ctr">
              <a:lnSpc>
                <a:spcPct val="115000"/>
              </a:lnSpc>
              <a:spcAft>
                <a:spcPts val="0"/>
              </a:spcAft>
            </a:pPr>
            <a:r>
              <a:rPr sz="1150" b="0" i="0">
                <a:solidFill>
                  <a:srgbClr val="55677C"/>
                </a:solidFill>
                <a:latin typeface="Arial"/>
              </a:rPr>
              <a:t>applicants supported</a:t>
            </a:r>
          </a:p>
        </p:txBody>
      </p:sp>
      <p:sp>
        <p:nvSpPr>
          <p:cNvPr id="17" name="Rounded Rectangle 16"/>
          <p:cNvSpPr/>
          <p:nvPr/>
        </p:nvSpPr>
        <p:spPr>
          <a:xfrm>
            <a:off x="8010144" y="3246120"/>
            <a:ext cx="3502152" cy="1005840"/>
          </a:xfrm>
          <a:prstGeom prst="roundRect">
            <a:avLst>
              <a:gd name="adj" fmla="val 7000"/>
            </a:avLst>
          </a:prstGeom>
          <a:solidFill>
            <a:srgbClr val="FFFFFF"/>
          </a:solidFill>
          <a:ln w="12700">
            <a:solidFill>
              <a:srgbClr val="DCE5EE"/>
            </a:solidFill>
          </a:ln>
          <a:effectLst/>
        </p:spPr>
        <p:txBody>
          <a:bodyPr rtlCol="0" anchor="ctr"/>
          <a:lstStyle/>
          <a:p>
            <a:pPr algn="ctr"/>
          </a:p>
        </p:txBody>
      </p:sp>
      <p:sp>
        <p:nvSpPr>
          <p:cNvPr id="18" name="Rectangle 17"/>
          <p:cNvSpPr/>
          <p:nvPr/>
        </p:nvSpPr>
        <p:spPr>
          <a:xfrm>
            <a:off x="8010144" y="3246120"/>
            <a:ext cx="3502152" cy="41148"/>
          </a:xfrm>
          <a:prstGeom prst="rect">
            <a:avLst/>
          </a:prstGeom>
          <a:solidFill>
            <a:srgbClr val="2D7FBF"/>
          </a:solidFill>
          <a:ln>
            <a:noFill/>
          </a:ln>
          <a:effectLst/>
        </p:spPr>
        <p:txBody>
          <a:bodyPr rtlCol="0" anchor="ctr"/>
          <a:lstStyle/>
          <a:p>
            <a:pPr algn="ctr"/>
          </a:p>
        </p:txBody>
      </p:sp>
      <p:sp>
        <p:nvSpPr>
          <p:cNvPr id="19" name="TextBox 18"/>
          <p:cNvSpPr txBox="1"/>
          <p:nvPr/>
        </p:nvSpPr>
        <p:spPr>
          <a:xfrm>
            <a:off x="8010144" y="3364992"/>
            <a:ext cx="3502152" cy="457200"/>
          </a:xfrm>
          <a:prstGeom prst="rect">
            <a:avLst/>
          </a:prstGeom>
          <a:noFill/>
        </p:spPr>
        <p:txBody>
          <a:bodyPr wrap="square" anchor="t" lIns="0" rIns="0" tIns="0" bIns="0">
            <a:spAutoFit/>
          </a:bodyPr>
          <a:lstStyle/>
          <a:p>
            <a:pPr algn="ctr">
              <a:lnSpc>
                <a:spcPct val="115000"/>
              </a:lnSpc>
              <a:spcAft>
                <a:spcPts val="0"/>
              </a:spcAft>
            </a:pPr>
            <a:r>
              <a:rPr sz="2400" b="1" i="0">
                <a:solidFill>
                  <a:srgbClr val="16283F"/>
                </a:solidFill>
                <a:latin typeface="Arial"/>
              </a:rPr>
              <a:t>94%</a:t>
            </a:r>
          </a:p>
        </p:txBody>
      </p:sp>
      <p:sp>
        <p:nvSpPr>
          <p:cNvPr id="20" name="TextBox 19"/>
          <p:cNvSpPr txBox="1"/>
          <p:nvPr/>
        </p:nvSpPr>
        <p:spPr>
          <a:xfrm>
            <a:off x="8010144" y="3840480"/>
            <a:ext cx="3502152" cy="365760"/>
          </a:xfrm>
          <a:prstGeom prst="rect">
            <a:avLst/>
          </a:prstGeom>
          <a:noFill/>
        </p:spPr>
        <p:txBody>
          <a:bodyPr wrap="square" anchor="t" lIns="0" rIns="0" tIns="0" bIns="0">
            <a:spAutoFit/>
          </a:bodyPr>
          <a:lstStyle/>
          <a:p>
            <a:pPr algn="ctr">
              <a:lnSpc>
                <a:spcPct val="115000"/>
              </a:lnSpc>
              <a:spcAft>
                <a:spcPts val="0"/>
              </a:spcAft>
            </a:pPr>
            <a:r>
              <a:rPr sz="1150" b="0" i="0">
                <a:solidFill>
                  <a:srgbClr val="55677C"/>
                </a:solidFill>
                <a:latin typeface="Arial"/>
              </a:rPr>
              <a:t>success rate for 1:1 mentorship</a:t>
            </a:r>
          </a:p>
        </p:txBody>
      </p:sp>
      <p:sp>
        <p:nvSpPr>
          <p:cNvPr id="21" name="TextBox 20"/>
          <p:cNvSpPr txBox="1"/>
          <p:nvPr/>
        </p:nvSpPr>
        <p:spPr>
          <a:xfrm>
            <a:off x="640080" y="4480560"/>
            <a:ext cx="10058400" cy="274320"/>
          </a:xfrm>
          <a:prstGeom prst="rect">
            <a:avLst/>
          </a:prstGeom>
          <a:noFill/>
        </p:spPr>
        <p:txBody>
          <a:bodyPr wrap="square" anchor="t" lIns="0" rIns="0" tIns="0" bIns="0">
            <a:spAutoFit/>
          </a:bodyPr>
          <a:lstStyle/>
          <a:p>
            <a:pPr algn="l">
              <a:lnSpc>
                <a:spcPct val="115000"/>
              </a:lnSpc>
              <a:spcAft>
                <a:spcPts val="0"/>
              </a:spcAft>
            </a:pPr>
            <a:r>
              <a:rPr sz="1100" b="1" i="0" spc="100">
                <a:solidFill>
                  <a:srgbClr val="8FA2B8"/>
                </a:solidFill>
                <a:latin typeface="Arial"/>
              </a:rPr>
              <a:t>OUR MENTEES HAVE WON PLACES AND FUNDING THROUGH</a:t>
            </a:r>
          </a:p>
        </p:txBody>
      </p:sp>
      <p:sp>
        <p:nvSpPr>
          <p:cNvPr id="22" name="Rounded Rectangle 21"/>
          <p:cNvSpPr/>
          <p:nvPr/>
        </p:nvSpPr>
        <p:spPr>
          <a:xfrm>
            <a:off x="640080" y="4791456"/>
            <a:ext cx="1033271" cy="365760"/>
          </a:xfrm>
          <a:prstGeom prst="roundRect">
            <a:avLst>
              <a:gd name="adj" fmla="val 50000"/>
            </a:avLst>
          </a:prstGeom>
          <a:solidFill>
            <a:srgbClr val="FFFFFF"/>
          </a:solidFill>
          <a:ln w="12700">
            <a:solidFill>
              <a:srgbClr val="C9D9E8"/>
            </a:solidFill>
          </a:ln>
          <a:effectLst/>
        </p:spPr>
        <p:txBody>
          <a:bodyPr rtlCol="0" anchor="ctr" wrap="none" lIns="0" rIns="0" tIns="0" bIns="0"/>
          <a:lstStyle/>
          <a:p>
            <a:pPr algn="ctr"/>
            <a:r>
              <a:rPr sz="1200" b="1">
                <a:solidFill>
                  <a:srgbClr val="16283F"/>
                </a:solidFill>
                <a:latin typeface="Arial"/>
              </a:rPr>
              <a:t>Chevening</a:t>
            </a:r>
          </a:p>
        </p:txBody>
      </p:sp>
      <p:sp>
        <p:nvSpPr>
          <p:cNvPr id="23" name="Rounded Rectangle 22"/>
          <p:cNvSpPr/>
          <p:nvPr/>
        </p:nvSpPr>
        <p:spPr>
          <a:xfrm>
            <a:off x="1783080" y="4791456"/>
            <a:ext cx="2350008" cy="365760"/>
          </a:xfrm>
          <a:prstGeom prst="roundRect">
            <a:avLst>
              <a:gd name="adj" fmla="val 50000"/>
            </a:avLst>
          </a:prstGeom>
          <a:solidFill>
            <a:srgbClr val="FFFFFF"/>
          </a:solidFill>
          <a:ln w="12700">
            <a:solidFill>
              <a:srgbClr val="C9D9E8"/>
            </a:solidFill>
          </a:ln>
          <a:effectLst/>
        </p:spPr>
        <p:txBody>
          <a:bodyPr rtlCol="0" anchor="ctr" wrap="none" lIns="0" rIns="0" tIns="0" bIns="0"/>
          <a:lstStyle/>
          <a:p>
            <a:pPr algn="ctr"/>
            <a:r>
              <a:rPr sz="1200" b="1">
                <a:solidFill>
                  <a:srgbClr val="16283F"/>
                </a:solidFill>
                <a:latin typeface="Arial"/>
              </a:rPr>
              <a:t>Commonwealth Scholarships</a:t>
            </a:r>
          </a:p>
        </p:txBody>
      </p:sp>
      <p:sp>
        <p:nvSpPr>
          <p:cNvPr id="24" name="Rounded Rectangle 23"/>
          <p:cNvSpPr/>
          <p:nvPr/>
        </p:nvSpPr>
        <p:spPr>
          <a:xfrm>
            <a:off x="4242816" y="4791456"/>
            <a:ext cx="1527048" cy="365760"/>
          </a:xfrm>
          <a:prstGeom prst="roundRect">
            <a:avLst>
              <a:gd name="adj" fmla="val 50000"/>
            </a:avLst>
          </a:prstGeom>
          <a:solidFill>
            <a:srgbClr val="FFFFFF"/>
          </a:solidFill>
          <a:ln w="12700">
            <a:solidFill>
              <a:srgbClr val="C9D9E8"/>
            </a:solidFill>
          </a:ln>
          <a:effectLst/>
        </p:spPr>
        <p:txBody>
          <a:bodyPr rtlCol="0" anchor="ctr" wrap="none" lIns="0" rIns="0" tIns="0" bIns="0"/>
          <a:lstStyle/>
          <a:p>
            <a:pPr algn="ctr"/>
            <a:r>
              <a:rPr sz="1200" b="1">
                <a:solidFill>
                  <a:srgbClr val="16283F"/>
                </a:solidFill>
                <a:latin typeface="Arial"/>
              </a:rPr>
              <a:t>Gates Cambridge</a:t>
            </a:r>
          </a:p>
        </p:txBody>
      </p:sp>
      <p:sp>
        <p:nvSpPr>
          <p:cNvPr id="25" name="Rounded Rectangle 24"/>
          <p:cNvSpPr/>
          <p:nvPr/>
        </p:nvSpPr>
        <p:spPr>
          <a:xfrm>
            <a:off x="5879592" y="4791456"/>
            <a:ext cx="2020824" cy="365760"/>
          </a:xfrm>
          <a:prstGeom prst="roundRect">
            <a:avLst>
              <a:gd name="adj" fmla="val 50000"/>
            </a:avLst>
          </a:prstGeom>
          <a:solidFill>
            <a:srgbClr val="FFFFFF"/>
          </a:solidFill>
          <a:ln w="12700">
            <a:solidFill>
              <a:srgbClr val="C9D9E8"/>
            </a:solidFill>
          </a:ln>
          <a:effectLst/>
        </p:spPr>
        <p:txBody>
          <a:bodyPr rtlCol="0" anchor="ctr" wrap="none" lIns="0" rIns="0" tIns="0" bIns="0"/>
          <a:lstStyle/>
          <a:p>
            <a:pPr algn="ctr"/>
            <a:r>
              <a:rPr sz="1200" b="1">
                <a:solidFill>
                  <a:srgbClr val="16283F"/>
                </a:solidFill>
                <a:latin typeface="Arial"/>
              </a:rPr>
              <a:t>Mastercard Foundation</a:t>
            </a:r>
          </a:p>
        </p:txBody>
      </p:sp>
      <p:sp>
        <p:nvSpPr>
          <p:cNvPr id="26" name="Rounded Rectangle 25"/>
          <p:cNvSpPr/>
          <p:nvPr/>
        </p:nvSpPr>
        <p:spPr>
          <a:xfrm>
            <a:off x="8010144" y="4791456"/>
            <a:ext cx="1444752" cy="365760"/>
          </a:xfrm>
          <a:prstGeom prst="roundRect">
            <a:avLst>
              <a:gd name="adj" fmla="val 50000"/>
            </a:avLst>
          </a:prstGeom>
          <a:solidFill>
            <a:srgbClr val="FFFFFF"/>
          </a:solidFill>
          <a:ln w="12700">
            <a:solidFill>
              <a:srgbClr val="C9D9E8"/>
            </a:solidFill>
          </a:ln>
          <a:effectLst/>
        </p:spPr>
        <p:txBody>
          <a:bodyPr rtlCol="0" anchor="ctr" wrap="none" lIns="0" rIns="0" tIns="0" bIns="0"/>
          <a:lstStyle/>
          <a:p>
            <a:pPr algn="ctr"/>
            <a:r>
              <a:rPr sz="1200" b="1">
                <a:solidFill>
                  <a:srgbClr val="16283F"/>
                </a:solidFill>
                <a:latin typeface="Arial"/>
              </a:rPr>
              <a:t>Erasmus Mundus</a:t>
            </a:r>
          </a:p>
        </p:txBody>
      </p:sp>
      <p:sp>
        <p:nvSpPr>
          <p:cNvPr id="27" name="TextBox 26"/>
          <p:cNvSpPr txBox="1"/>
          <p:nvPr/>
        </p:nvSpPr>
        <p:spPr>
          <a:xfrm>
            <a:off x="640080" y="5349240"/>
            <a:ext cx="10058400" cy="274320"/>
          </a:xfrm>
          <a:prstGeom prst="rect">
            <a:avLst/>
          </a:prstGeom>
          <a:noFill/>
        </p:spPr>
        <p:txBody>
          <a:bodyPr wrap="square" anchor="t" lIns="0" rIns="0" tIns="0" bIns="0">
            <a:spAutoFit/>
          </a:bodyPr>
          <a:lstStyle/>
          <a:p>
            <a:pPr algn="l">
              <a:lnSpc>
                <a:spcPct val="115000"/>
              </a:lnSpc>
              <a:spcAft>
                <a:spcPts val="0"/>
              </a:spcAft>
            </a:pPr>
            <a:r>
              <a:rPr sz="1100" b="1" i="0" spc="100">
                <a:solidFill>
                  <a:srgbClr val="8FA2B8"/>
                </a:solidFill>
                <a:latin typeface="Arial"/>
              </a:rPr>
              <a:t>AND GONE ON TO STUDY AT</a:t>
            </a:r>
          </a:p>
        </p:txBody>
      </p:sp>
      <p:sp>
        <p:nvSpPr>
          <p:cNvPr id="28" name="Rounded Rectangle 27"/>
          <p:cNvSpPr/>
          <p:nvPr/>
        </p:nvSpPr>
        <p:spPr>
          <a:xfrm>
            <a:off x="640080" y="5650992"/>
            <a:ext cx="873252"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Cambridge</a:t>
            </a:r>
          </a:p>
        </p:txBody>
      </p:sp>
      <p:sp>
        <p:nvSpPr>
          <p:cNvPr id="29" name="Rounded Rectangle 28"/>
          <p:cNvSpPr/>
          <p:nvPr/>
        </p:nvSpPr>
        <p:spPr>
          <a:xfrm>
            <a:off x="1694179"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Oxford</a:t>
            </a:r>
          </a:p>
        </p:txBody>
      </p:sp>
      <p:sp>
        <p:nvSpPr>
          <p:cNvPr id="30" name="Rounded Rectangle 29"/>
          <p:cNvSpPr/>
          <p:nvPr/>
        </p:nvSpPr>
        <p:spPr>
          <a:xfrm>
            <a:off x="2697988" y="5650992"/>
            <a:ext cx="1696212"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King's College London</a:t>
            </a:r>
          </a:p>
        </p:txBody>
      </p:sp>
      <p:sp>
        <p:nvSpPr>
          <p:cNvPr id="31" name="Rounded Rectangle 30"/>
          <p:cNvSpPr/>
          <p:nvPr/>
        </p:nvSpPr>
        <p:spPr>
          <a:xfrm>
            <a:off x="4575048"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UCL</a:t>
            </a:r>
          </a:p>
        </p:txBody>
      </p:sp>
      <p:sp>
        <p:nvSpPr>
          <p:cNvPr id="32" name="Rounded Rectangle 31"/>
          <p:cNvSpPr/>
          <p:nvPr/>
        </p:nvSpPr>
        <p:spPr>
          <a:xfrm>
            <a:off x="5578856" y="5650992"/>
            <a:ext cx="873252"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Edinburgh</a:t>
            </a:r>
          </a:p>
        </p:txBody>
      </p:sp>
      <p:sp>
        <p:nvSpPr>
          <p:cNvPr id="33" name="Rounded Rectangle 32"/>
          <p:cNvSpPr/>
          <p:nvPr/>
        </p:nvSpPr>
        <p:spPr>
          <a:xfrm>
            <a:off x="6632956"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LSE</a:t>
            </a:r>
          </a:p>
        </p:txBody>
      </p:sp>
      <p:sp>
        <p:nvSpPr>
          <p:cNvPr id="34" name="Rounded Rectangle 33"/>
          <p:cNvSpPr/>
          <p:nvPr/>
        </p:nvSpPr>
        <p:spPr>
          <a:xfrm>
            <a:off x="7636764"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Toronto</a:t>
            </a:r>
          </a:p>
        </p:txBody>
      </p:sp>
      <p:sp>
        <p:nvSpPr>
          <p:cNvPr id="35" name="Rounded Rectangle 34"/>
          <p:cNvSpPr/>
          <p:nvPr/>
        </p:nvSpPr>
        <p:spPr>
          <a:xfrm>
            <a:off x="8640572" y="5650992"/>
            <a:ext cx="873252"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Melbourne</a:t>
            </a:r>
          </a:p>
        </p:txBody>
      </p:sp>
      <p:sp>
        <p:nvSpPr>
          <p:cNvPr id="36" name="Rounded Rectangle 35"/>
          <p:cNvSpPr/>
          <p:nvPr/>
        </p:nvSpPr>
        <p:spPr>
          <a:xfrm>
            <a:off x="9694671"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NUS</a:t>
            </a:r>
          </a:p>
        </p:txBody>
      </p:sp>
      <p:sp>
        <p:nvSpPr>
          <p:cNvPr id="37" name="Rounded Rectangle 36"/>
          <p:cNvSpPr/>
          <p:nvPr/>
        </p:nvSpPr>
        <p:spPr>
          <a:xfrm>
            <a:off x="10698479" y="5650992"/>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Stanford</a:t>
            </a:r>
          </a:p>
        </p:txBody>
      </p:sp>
      <p:sp>
        <p:nvSpPr>
          <p:cNvPr id="38" name="Rounded Rectangle 37"/>
          <p:cNvSpPr/>
          <p:nvPr/>
        </p:nvSpPr>
        <p:spPr>
          <a:xfrm>
            <a:off x="640080" y="6071616"/>
            <a:ext cx="941832"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SciencesPo</a:t>
            </a:r>
          </a:p>
        </p:txBody>
      </p:sp>
      <p:sp>
        <p:nvSpPr>
          <p:cNvPr id="39" name="Rounded Rectangle 38"/>
          <p:cNvSpPr/>
          <p:nvPr/>
        </p:nvSpPr>
        <p:spPr>
          <a:xfrm>
            <a:off x="1691639" y="6071616"/>
            <a:ext cx="822960" cy="310896"/>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050" b="0">
                <a:solidFill>
                  <a:srgbClr val="2D7FBF"/>
                </a:solidFill>
                <a:latin typeface="Arial"/>
              </a:rPr>
              <a:t>NYU</a:t>
            </a:r>
          </a:p>
        </p:txBody>
      </p:sp>
      <p:sp>
        <p:nvSpPr>
          <p:cNvPr id="40" name="TextBox 39"/>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HOW IT WORKS</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3000" b="1" i="0">
                <a:solidFill>
                  <a:srgbClr val="16283F"/>
                </a:solidFill>
                <a:latin typeface="Arial"/>
              </a:rPr>
              <a:t>Simple, personal, and no guesswork.</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TextBox 5"/>
          <p:cNvSpPr txBox="1"/>
          <p:nvPr/>
        </p:nvSpPr>
        <p:spPr>
          <a:xfrm>
            <a:off x="640080" y="1965960"/>
            <a:ext cx="10881360" cy="640080"/>
          </a:xfrm>
          <a:prstGeom prst="rect">
            <a:avLst/>
          </a:prstGeom>
          <a:noFill/>
        </p:spPr>
        <p:txBody>
          <a:bodyPr wrap="square" anchor="t" lIns="0" rIns="0" tIns="0" bIns="0">
            <a:spAutoFit/>
          </a:bodyPr>
          <a:lstStyle/>
          <a:p>
            <a:pPr algn="l">
              <a:lnSpc>
                <a:spcPct val="130000"/>
              </a:lnSpc>
              <a:spcAft>
                <a:spcPts val="0"/>
              </a:spcAft>
            </a:pPr>
            <a:r>
              <a:rPr sz="1450" b="0" i="0">
                <a:solidFill>
                  <a:srgbClr val="3E4E60"/>
                </a:solidFill>
                <a:latin typeface="Arial"/>
              </a:rPr>
              <a:t>From your first enquiry to your initial session, the process is designed to be seamless and efficient. Here is what you can expect.</a:t>
            </a:r>
          </a:p>
        </p:txBody>
      </p:sp>
      <p:sp>
        <p:nvSpPr>
          <p:cNvPr id="7" name="Rounded Rectangle 6"/>
          <p:cNvSpPr/>
          <p:nvPr/>
        </p:nvSpPr>
        <p:spPr>
          <a:xfrm>
            <a:off x="640080" y="2788920"/>
            <a:ext cx="5257800" cy="1691640"/>
          </a:xfrm>
          <a:prstGeom prst="roundRect">
            <a:avLst>
              <a:gd name="adj" fmla="val 4500"/>
            </a:avLst>
          </a:prstGeom>
          <a:solidFill>
            <a:srgbClr val="FFFFFF"/>
          </a:solidFill>
          <a:ln w="12700">
            <a:solidFill>
              <a:srgbClr val="DCE5EE"/>
            </a:solidFill>
          </a:ln>
          <a:effectLst/>
        </p:spPr>
        <p:txBody>
          <a:bodyPr rtlCol="0" anchor="ctr"/>
          <a:lstStyle/>
          <a:p>
            <a:pPr algn="ctr"/>
          </a:p>
        </p:txBody>
      </p:sp>
      <p:sp>
        <p:nvSpPr>
          <p:cNvPr id="8" name="Oval 7"/>
          <p:cNvSpPr/>
          <p:nvPr/>
        </p:nvSpPr>
        <p:spPr>
          <a:xfrm>
            <a:off x="868680" y="2990088"/>
            <a:ext cx="502920" cy="502920"/>
          </a:xfrm>
          <a:prstGeom prst="ellipse">
            <a:avLst/>
          </a:prstGeom>
          <a:solidFill>
            <a:srgbClr val="16283F"/>
          </a:solidFill>
          <a:ln>
            <a:noFill/>
          </a:ln>
          <a:effectLst/>
        </p:spPr>
        <p:txBody>
          <a:bodyPr rtlCol="0" anchor="ctr"/>
          <a:lstStyle/>
          <a:p>
            <a:pPr algn="ctr"/>
          </a:p>
        </p:txBody>
      </p:sp>
      <p:sp>
        <p:nvSpPr>
          <p:cNvPr id="9" name="TextBox 8"/>
          <p:cNvSpPr txBox="1"/>
          <p:nvPr/>
        </p:nvSpPr>
        <p:spPr>
          <a:xfrm>
            <a:off x="868680" y="2990088"/>
            <a:ext cx="502920" cy="502920"/>
          </a:xfrm>
          <a:prstGeom prst="rect">
            <a:avLst/>
          </a:prstGeom>
          <a:noFill/>
        </p:spPr>
        <p:txBody>
          <a:bodyPr wrap="square" anchor="ctr" lIns="0" rIns="0" tIns="0" bIns="0">
            <a:spAutoFit/>
          </a:bodyPr>
          <a:lstStyle/>
          <a:p>
            <a:pPr algn="ctr">
              <a:lnSpc>
                <a:spcPct val="115000"/>
              </a:lnSpc>
              <a:spcAft>
                <a:spcPts val="0"/>
              </a:spcAft>
            </a:pPr>
            <a:r>
              <a:rPr sz="1300" b="1" i="0">
                <a:solidFill>
                  <a:srgbClr val="FFFFFF"/>
                </a:solidFill>
                <a:latin typeface="Arial"/>
              </a:rPr>
              <a:t>01</a:t>
            </a:r>
          </a:p>
        </p:txBody>
      </p:sp>
      <p:sp>
        <p:nvSpPr>
          <p:cNvPr id="10" name="TextBox 9"/>
          <p:cNvSpPr txBox="1"/>
          <p:nvPr/>
        </p:nvSpPr>
        <p:spPr>
          <a:xfrm>
            <a:off x="1554480" y="2971800"/>
            <a:ext cx="4114800" cy="365760"/>
          </a:xfrm>
          <a:prstGeom prst="rect">
            <a:avLst/>
          </a:prstGeom>
          <a:noFill/>
        </p:spPr>
        <p:txBody>
          <a:bodyPr wrap="square" anchor="t" lIns="0" rIns="0" tIns="0" bIns="0">
            <a:spAutoFit/>
          </a:bodyPr>
          <a:lstStyle/>
          <a:p>
            <a:pPr algn="l">
              <a:lnSpc>
                <a:spcPct val="115000"/>
              </a:lnSpc>
              <a:spcAft>
                <a:spcPts val="0"/>
              </a:spcAft>
            </a:pPr>
            <a:r>
              <a:rPr sz="1550" b="1" i="0">
                <a:solidFill>
                  <a:srgbClr val="16283F"/>
                </a:solidFill>
                <a:latin typeface="Arial"/>
              </a:rPr>
              <a:t>We look at your interest form</a:t>
            </a:r>
          </a:p>
        </p:txBody>
      </p:sp>
      <p:sp>
        <p:nvSpPr>
          <p:cNvPr id="11" name="TextBox 10"/>
          <p:cNvSpPr txBox="1"/>
          <p:nvPr/>
        </p:nvSpPr>
        <p:spPr>
          <a:xfrm>
            <a:off x="1554480" y="3355848"/>
            <a:ext cx="4114800" cy="1005840"/>
          </a:xfrm>
          <a:prstGeom prst="rect">
            <a:avLst/>
          </a:prstGeom>
          <a:noFill/>
        </p:spPr>
        <p:txBody>
          <a:bodyPr wrap="square" anchor="t" lIns="0" rIns="0" tIns="0" bIns="0">
            <a:spAutoFit/>
          </a:bodyPr>
          <a:lstStyle/>
          <a:p>
            <a:pPr algn="l">
              <a:lnSpc>
                <a:spcPct val="128000"/>
              </a:lnSpc>
              <a:spcAft>
                <a:spcPts val="0"/>
              </a:spcAft>
            </a:pPr>
            <a:r>
              <a:rPr sz="1150" b="0" i="0">
                <a:solidFill>
                  <a:srgbClr val="55677C"/>
                </a:solidFill>
                <a:latin typeface="Arial"/>
              </a:rPr>
              <a:t>Based on your target programme or scholarship, your timeline, and what you need most help with, we figure out the right package and mentor for where you are right now.</a:t>
            </a:r>
          </a:p>
        </p:txBody>
      </p:sp>
      <p:sp>
        <p:nvSpPr>
          <p:cNvPr id="12" name="Rounded Rectangle 11"/>
          <p:cNvSpPr/>
          <p:nvPr/>
        </p:nvSpPr>
        <p:spPr>
          <a:xfrm>
            <a:off x="6263640" y="2788920"/>
            <a:ext cx="5257800" cy="1691640"/>
          </a:xfrm>
          <a:prstGeom prst="roundRect">
            <a:avLst>
              <a:gd name="adj" fmla="val 4500"/>
            </a:avLst>
          </a:prstGeom>
          <a:solidFill>
            <a:srgbClr val="FFFFFF"/>
          </a:solidFill>
          <a:ln w="12700">
            <a:solidFill>
              <a:srgbClr val="DCE5EE"/>
            </a:solidFill>
          </a:ln>
          <a:effectLst/>
        </p:spPr>
        <p:txBody>
          <a:bodyPr rtlCol="0" anchor="ctr"/>
          <a:lstStyle/>
          <a:p>
            <a:pPr algn="ctr"/>
          </a:p>
        </p:txBody>
      </p:sp>
      <p:sp>
        <p:nvSpPr>
          <p:cNvPr id="13" name="Oval 12"/>
          <p:cNvSpPr/>
          <p:nvPr/>
        </p:nvSpPr>
        <p:spPr>
          <a:xfrm>
            <a:off x="6492240" y="2990088"/>
            <a:ext cx="502920" cy="502920"/>
          </a:xfrm>
          <a:prstGeom prst="ellipse">
            <a:avLst/>
          </a:prstGeom>
          <a:solidFill>
            <a:srgbClr val="16283F"/>
          </a:solidFill>
          <a:ln>
            <a:noFill/>
          </a:ln>
          <a:effectLst/>
        </p:spPr>
        <p:txBody>
          <a:bodyPr rtlCol="0" anchor="ctr"/>
          <a:lstStyle/>
          <a:p>
            <a:pPr algn="ctr"/>
          </a:p>
        </p:txBody>
      </p:sp>
      <p:sp>
        <p:nvSpPr>
          <p:cNvPr id="14" name="TextBox 13"/>
          <p:cNvSpPr txBox="1"/>
          <p:nvPr/>
        </p:nvSpPr>
        <p:spPr>
          <a:xfrm>
            <a:off x="6492240" y="2990088"/>
            <a:ext cx="502920" cy="502920"/>
          </a:xfrm>
          <a:prstGeom prst="rect">
            <a:avLst/>
          </a:prstGeom>
          <a:noFill/>
        </p:spPr>
        <p:txBody>
          <a:bodyPr wrap="square" anchor="ctr" lIns="0" rIns="0" tIns="0" bIns="0">
            <a:spAutoFit/>
          </a:bodyPr>
          <a:lstStyle/>
          <a:p>
            <a:pPr algn="ctr">
              <a:lnSpc>
                <a:spcPct val="115000"/>
              </a:lnSpc>
              <a:spcAft>
                <a:spcPts val="0"/>
              </a:spcAft>
            </a:pPr>
            <a:r>
              <a:rPr sz="1300" b="1" i="0">
                <a:solidFill>
                  <a:srgbClr val="FFFFFF"/>
                </a:solidFill>
                <a:latin typeface="Arial"/>
              </a:rPr>
              <a:t>02</a:t>
            </a:r>
          </a:p>
        </p:txBody>
      </p:sp>
      <p:sp>
        <p:nvSpPr>
          <p:cNvPr id="15" name="TextBox 14"/>
          <p:cNvSpPr txBox="1"/>
          <p:nvPr/>
        </p:nvSpPr>
        <p:spPr>
          <a:xfrm>
            <a:off x="7178040" y="2971800"/>
            <a:ext cx="4114800" cy="365760"/>
          </a:xfrm>
          <a:prstGeom prst="rect">
            <a:avLst/>
          </a:prstGeom>
          <a:noFill/>
        </p:spPr>
        <p:txBody>
          <a:bodyPr wrap="square" anchor="t" lIns="0" rIns="0" tIns="0" bIns="0">
            <a:spAutoFit/>
          </a:bodyPr>
          <a:lstStyle/>
          <a:p>
            <a:pPr algn="l">
              <a:lnSpc>
                <a:spcPct val="115000"/>
              </a:lnSpc>
              <a:spcAft>
                <a:spcPts val="0"/>
              </a:spcAft>
            </a:pPr>
            <a:r>
              <a:rPr sz="1550" b="1" i="0">
                <a:solidFill>
                  <a:srgbClr val="16283F"/>
                </a:solidFill>
                <a:latin typeface="Arial"/>
              </a:rPr>
              <a:t>We match you with a mentor</a:t>
            </a:r>
          </a:p>
        </p:txBody>
      </p:sp>
      <p:sp>
        <p:nvSpPr>
          <p:cNvPr id="16" name="TextBox 15"/>
          <p:cNvSpPr txBox="1"/>
          <p:nvPr/>
        </p:nvSpPr>
        <p:spPr>
          <a:xfrm>
            <a:off x="7178040" y="3355848"/>
            <a:ext cx="4114800" cy="1005840"/>
          </a:xfrm>
          <a:prstGeom prst="rect">
            <a:avLst/>
          </a:prstGeom>
          <a:noFill/>
        </p:spPr>
        <p:txBody>
          <a:bodyPr wrap="square" anchor="t" lIns="0" rIns="0" tIns="0" bIns="0">
            <a:spAutoFit/>
          </a:bodyPr>
          <a:lstStyle/>
          <a:p>
            <a:pPr algn="l">
              <a:lnSpc>
                <a:spcPct val="128000"/>
              </a:lnSpc>
              <a:spcAft>
                <a:spcPts val="0"/>
              </a:spcAft>
            </a:pPr>
            <a:r>
              <a:rPr sz="1150" b="0" i="0">
                <a:solidFill>
                  <a:srgbClr val="55677C"/>
                </a:solidFill>
                <a:latin typeface="Arial"/>
              </a:rPr>
              <a:t>We match you with a mentor who has been through the exact application you are preparing for — often the same scholarship, the same institutions.</a:t>
            </a:r>
          </a:p>
        </p:txBody>
      </p:sp>
      <p:sp>
        <p:nvSpPr>
          <p:cNvPr id="17" name="Rounded Rectangle 16"/>
          <p:cNvSpPr/>
          <p:nvPr/>
        </p:nvSpPr>
        <p:spPr>
          <a:xfrm>
            <a:off x="640080" y="4709160"/>
            <a:ext cx="5257800" cy="1691640"/>
          </a:xfrm>
          <a:prstGeom prst="roundRect">
            <a:avLst>
              <a:gd name="adj" fmla="val 4500"/>
            </a:avLst>
          </a:prstGeom>
          <a:solidFill>
            <a:srgbClr val="FFFFFF"/>
          </a:solidFill>
          <a:ln w="12700">
            <a:solidFill>
              <a:srgbClr val="DCE5EE"/>
            </a:solidFill>
          </a:ln>
          <a:effectLst/>
        </p:spPr>
        <p:txBody>
          <a:bodyPr rtlCol="0" anchor="ctr"/>
          <a:lstStyle/>
          <a:p>
            <a:pPr algn="ctr"/>
          </a:p>
        </p:txBody>
      </p:sp>
      <p:sp>
        <p:nvSpPr>
          <p:cNvPr id="18" name="Oval 17"/>
          <p:cNvSpPr/>
          <p:nvPr/>
        </p:nvSpPr>
        <p:spPr>
          <a:xfrm>
            <a:off x="868680" y="4910328"/>
            <a:ext cx="502920" cy="502920"/>
          </a:xfrm>
          <a:prstGeom prst="ellipse">
            <a:avLst/>
          </a:prstGeom>
          <a:solidFill>
            <a:srgbClr val="16283F"/>
          </a:solidFill>
          <a:ln>
            <a:noFill/>
          </a:ln>
          <a:effectLst/>
        </p:spPr>
        <p:txBody>
          <a:bodyPr rtlCol="0" anchor="ctr"/>
          <a:lstStyle/>
          <a:p>
            <a:pPr algn="ctr"/>
          </a:p>
        </p:txBody>
      </p:sp>
      <p:sp>
        <p:nvSpPr>
          <p:cNvPr id="19" name="TextBox 18"/>
          <p:cNvSpPr txBox="1"/>
          <p:nvPr/>
        </p:nvSpPr>
        <p:spPr>
          <a:xfrm>
            <a:off x="868680" y="4910328"/>
            <a:ext cx="502920" cy="502920"/>
          </a:xfrm>
          <a:prstGeom prst="rect">
            <a:avLst/>
          </a:prstGeom>
          <a:noFill/>
        </p:spPr>
        <p:txBody>
          <a:bodyPr wrap="square" anchor="ctr" lIns="0" rIns="0" tIns="0" bIns="0">
            <a:spAutoFit/>
          </a:bodyPr>
          <a:lstStyle/>
          <a:p>
            <a:pPr algn="ctr">
              <a:lnSpc>
                <a:spcPct val="115000"/>
              </a:lnSpc>
              <a:spcAft>
                <a:spcPts val="0"/>
              </a:spcAft>
            </a:pPr>
            <a:r>
              <a:rPr sz="1300" b="1" i="0">
                <a:solidFill>
                  <a:srgbClr val="FFFFFF"/>
                </a:solidFill>
                <a:latin typeface="Arial"/>
              </a:rPr>
              <a:t>03</a:t>
            </a:r>
          </a:p>
        </p:txBody>
      </p:sp>
      <p:sp>
        <p:nvSpPr>
          <p:cNvPr id="20" name="TextBox 19"/>
          <p:cNvSpPr txBox="1"/>
          <p:nvPr/>
        </p:nvSpPr>
        <p:spPr>
          <a:xfrm>
            <a:off x="1554480" y="4892040"/>
            <a:ext cx="4114800" cy="365760"/>
          </a:xfrm>
          <a:prstGeom prst="rect">
            <a:avLst/>
          </a:prstGeom>
          <a:noFill/>
        </p:spPr>
        <p:txBody>
          <a:bodyPr wrap="square" anchor="t" lIns="0" rIns="0" tIns="0" bIns="0">
            <a:spAutoFit/>
          </a:bodyPr>
          <a:lstStyle/>
          <a:p>
            <a:pPr algn="l">
              <a:lnSpc>
                <a:spcPct val="115000"/>
              </a:lnSpc>
              <a:spcAft>
                <a:spcPts val="0"/>
              </a:spcAft>
            </a:pPr>
            <a:r>
              <a:rPr sz="1550" b="1" i="0">
                <a:solidFill>
                  <a:srgbClr val="16283F"/>
                </a:solidFill>
                <a:latin typeface="Arial"/>
              </a:rPr>
              <a:t>Two free calls first</a:t>
            </a:r>
          </a:p>
        </p:txBody>
      </p:sp>
      <p:sp>
        <p:nvSpPr>
          <p:cNvPr id="21" name="TextBox 20"/>
          <p:cNvSpPr txBox="1"/>
          <p:nvPr/>
        </p:nvSpPr>
        <p:spPr>
          <a:xfrm>
            <a:off x="1554480" y="5276088"/>
            <a:ext cx="4114800" cy="1005840"/>
          </a:xfrm>
          <a:prstGeom prst="rect">
            <a:avLst/>
          </a:prstGeom>
          <a:noFill/>
        </p:spPr>
        <p:txBody>
          <a:bodyPr wrap="square" anchor="t" lIns="0" rIns="0" tIns="0" bIns="0">
            <a:spAutoFit/>
          </a:bodyPr>
          <a:lstStyle/>
          <a:p>
            <a:pPr algn="l">
              <a:lnSpc>
                <a:spcPct val="128000"/>
              </a:lnSpc>
              <a:spcAft>
                <a:spcPts val="0"/>
              </a:spcAft>
            </a:pPr>
            <a:r>
              <a:rPr sz="1150" b="0" i="0">
                <a:solidFill>
                  <a:srgbClr val="55677C"/>
                </a:solidFill>
                <a:latin typeface="Arial"/>
              </a:rPr>
              <a:t>Before any session begins, you will have a 20-minute discovery call with our team, then a 20-minute introduction call with your matched mentor. Only once you are comfortable do we move forward.</a:t>
            </a:r>
          </a:p>
        </p:txBody>
      </p:sp>
      <p:sp>
        <p:nvSpPr>
          <p:cNvPr id="22" name="Rounded Rectangle 21"/>
          <p:cNvSpPr/>
          <p:nvPr/>
        </p:nvSpPr>
        <p:spPr>
          <a:xfrm>
            <a:off x="6263640" y="4709160"/>
            <a:ext cx="5257800" cy="1691640"/>
          </a:xfrm>
          <a:prstGeom prst="roundRect">
            <a:avLst>
              <a:gd name="adj" fmla="val 4500"/>
            </a:avLst>
          </a:prstGeom>
          <a:solidFill>
            <a:srgbClr val="FFFFFF"/>
          </a:solidFill>
          <a:ln w="12700">
            <a:solidFill>
              <a:srgbClr val="DCE5EE"/>
            </a:solidFill>
          </a:ln>
          <a:effectLst/>
        </p:spPr>
        <p:txBody>
          <a:bodyPr rtlCol="0" anchor="ctr"/>
          <a:lstStyle/>
          <a:p>
            <a:pPr algn="ctr"/>
          </a:p>
        </p:txBody>
      </p:sp>
      <p:sp>
        <p:nvSpPr>
          <p:cNvPr id="23" name="Oval 22"/>
          <p:cNvSpPr/>
          <p:nvPr/>
        </p:nvSpPr>
        <p:spPr>
          <a:xfrm>
            <a:off x="6492240" y="4910328"/>
            <a:ext cx="502920" cy="502920"/>
          </a:xfrm>
          <a:prstGeom prst="ellipse">
            <a:avLst/>
          </a:prstGeom>
          <a:solidFill>
            <a:srgbClr val="16283F"/>
          </a:solidFill>
          <a:ln>
            <a:noFill/>
          </a:ln>
          <a:effectLst/>
        </p:spPr>
        <p:txBody>
          <a:bodyPr rtlCol="0" anchor="ctr"/>
          <a:lstStyle/>
          <a:p>
            <a:pPr algn="ctr"/>
          </a:p>
        </p:txBody>
      </p:sp>
      <p:sp>
        <p:nvSpPr>
          <p:cNvPr id="24" name="TextBox 23"/>
          <p:cNvSpPr txBox="1"/>
          <p:nvPr/>
        </p:nvSpPr>
        <p:spPr>
          <a:xfrm>
            <a:off x="6492240" y="4910328"/>
            <a:ext cx="502920" cy="502920"/>
          </a:xfrm>
          <a:prstGeom prst="rect">
            <a:avLst/>
          </a:prstGeom>
          <a:noFill/>
        </p:spPr>
        <p:txBody>
          <a:bodyPr wrap="square" anchor="ctr" lIns="0" rIns="0" tIns="0" bIns="0">
            <a:spAutoFit/>
          </a:bodyPr>
          <a:lstStyle/>
          <a:p>
            <a:pPr algn="ctr">
              <a:lnSpc>
                <a:spcPct val="115000"/>
              </a:lnSpc>
              <a:spcAft>
                <a:spcPts val="0"/>
              </a:spcAft>
            </a:pPr>
            <a:r>
              <a:rPr sz="1300" b="1" i="0">
                <a:solidFill>
                  <a:srgbClr val="FFFFFF"/>
                </a:solidFill>
                <a:latin typeface="Arial"/>
              </a:rPr>
              <a:t>04</a:t>
            </a:r>
          </a:p>
        </p:txBody>
      </p:sp>
      <p:sp>
        <p:nvSpPr>
          <p:cNvPr id="25" name="TextBox 24"/>
          <p:cNvSpPr txBox="1"/>
          <p:nvPr/>
        </p:nvSpPr>
        <p:spPr>
          <a:xfrm>
            <a:off x="7178040" y="4892040"/>
            <a:ext cx="4114800" cy="365760"/>
          </a:xfrm>
          <a:prstGeom prst="rect">
            <a:avLst/>
          </a:prstGeom>
          <a:noFill/>
        </p:spPr>
        <p:txBody>
          <a:bodyPr wrap="square" anchor="t" lIns="0" rIns="0" tIns="0" bIns="0">
            <a:spAutoFit/>
          </a:bodyPr>
          <a:lstStyle/>
          <a:p>
            <a:pPr algn="l">
              <a:lnSpc>
                <a:spcPct val="115000"/>
              </a:lnSpc>
              <a:spcAft>
                <a:spcPts val="0"/>
              </a:spcAft>
            </a:pPr>
            <a:r>
              <a:rPr sz="1550" b="1" i="0">
                <a:solidFill>
                  <a:srgbClr val="16283F"/>
                </a:solidFill>
                <a:latin typeface="Arial"/>
              </a:rPr>
              <a:t>Your sessions, on your schedule</a:t>
            </a:r>
          </a:p>
        </p:txBody>
      </p:sp>
      <p:sp>
        <p:nvSpPr>
          <p:cNvPr id="26" name="TextBox 25"/>
          <p:cNvSpPr txBox="1"/>
          <p:nvPr/>
        </p:nvSpPr>
        <p:spPr>
          <a:xfrm>
            <a:off x="7178040" y="5276088"/>
            <a:ext cx="4114800" cy="1005840"/>
          </a:xfrm>
          <a:prstGeom prst="rect">
            <a:avLst/>
          </a:prstGeom>
          <a:noFill/>
        </p:spPr>
        <p:txBody>
          <a:bodyPr wrap="square" anchor="t" lIns="0" rIns="0" tIns="0" bIns="0">
            <a:spAutoFit/>
          </a:bodyPr>
          <a:lstStyle/>
          <a:p>
            <a:pPr algn="l">
              <a:lnSpc>
                <a:spcPct val="128000"/>
              </a:lnSpc>
              <a:spcAft>
                <a:spcPts val="0"/>
              </a:spcAft>
            </a:pPr>
            <a:r>
              <a:rPr sz="1150" b="0" i="0">
                <a:solidFill>
                  <a:srgbClr val="55677C"/>
                </a:solidFill>
                <a:latin typeface="Arial"/>
              </a:rPr>
              <a:t>Sessions are 60 minutes, conducted online, and arranged directly with your mentor. How you use each session is entirely up to you.</a:t>
            </a:r>
          </a:p>
        </p:txBody>
      </p:sp>
      <p:sp>
        <p:nvSpPr>
          <p:cNvPr id="27" name="TextBox 26"/>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WHY TAL</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2300" b="1" i="0">
                <a:solidFill>
                  <a:srgbClr val="16283F"/>
                </a:solidFill>
                <a:latin typeface="Arial"/>
              </a:rPr>
              <a:t>Free mentorship isn't always sustainable. Expensive mentorship isn't always accessible.</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TextBox 5"/>
          <p:cNvSpPr txBox="1"/>
          <p:nvPr/>
        </p:nvSpPr>
        <p:spPr>
          <a:xfrm>
            <a:off x="640080" y="1874519"/>
            <a:ext cx="10881360" cy="685800"/>
          </a:xfrm>
          <a:prstGeom prst="rect">
            <a:avLst/>
          </a:prstGeom>
          <a:noFill/>
        </p:spPr>
        <p:txBody>
          <a:bodyPr wrap="square" anchor="t" lIns="0" rIns="0" tIns="0" bIns="0">
            <a:spAutoFit/>
          </a:bodyPr>
          <a:lstStyle/>
          <a:p>
            <a:pPr algn="l">
              <a:lnSpc>
                <a:spcPct val="130000"/>
              </a:lnSpc>
              <a:spcAft>
                <a:spcPts val="0"/>
              </a:spcAft>
            </a:pPr>
            <a:r>
              <a:rPr sz="1300" b="0" i="0">
                <a:solidFill>
                  <a:srgbClr val="3E4E60"/>
                </a:solidFill>
                <a:latin typeface="Arial"/>
              </a:rPr>
              <a:t>TAL is designed to provide mentorship that is affordable, dependable and delivered by mentors who have walked the path — a modest fee creates commitment, mentors stay engaged, and support costs a fraction of traditional consultancies.</a:t>
            </a:r>
          </a:p>
        </p:txBody>
      </p:sp>
      <p:graphicFrame>
        <p:nvGraphicFramePr>
          <p:cNvPr id="7" name="Table 6"/>
          <p:cNvGraphicFramePr>
            <a:graphicFrameLocks noGrp="1"/>
          </p:cNvGraphicFramePr>
          <p:nvPr/>
        </p:nvGraphicFramePr>
        <p:xfrm>
          <a:off x="640080" y="2697480"/>
          <a:ext cx="10881360" cy="3566157"/>
        </p:xfrm>
        <a:graphic>
          <a:graphicData uri="http://schemas.openxmlformats.org/drawingml/2006/table">
            <a:tbl>
              <a:tblPr>
                <a:tableStyleId>{2D5ABB26-0587-4C30-8999-92F81FD0307C}</a:tableStyleId>
              </a:tblPr>
              <a:tblGrid>
                <a:gridCol w="1554480"/>
                <a:gridCol w="2331720"/>
                <a:gridCol w="2331720"/>
                <a:gridCol w="2331720"/>
                <a:gridCol w="2331720"/>
              </a:tblGrid>
              <a:tr h="509451">
                <a:tc>
                  <a:txBody>
                    <a:bodyPr wrap="square"/>
                    <a:lstStyle/>
                    <a:p>
                      <a:r>
                        <a:rPr sz="1150" b="1">
                          <a:solidFill>
                            <a:srgbClr val="16283F"/>
                          </a:solidFill>
                          <a:latin typeface="Arial"/>
                        </a:rPr>
                        <a:t/>
                      </a:r>
                    </a:p>
                  </a:txBody>
                  <a:tcPr marL="91440" marR="91440" marT="36576" marB="36576" anchor="ctr">
                    <a:solidFill>
                      <a:srgbClr val="DCEAF7"/>
                    </a:solidFill>
                  </a:tcPr>
                </a:tc>
                <a:tc>
                  <a:txBody>
                    <a:bodyPr wrap="square"/>
                    <a:lstStyle/>
                    <a:p>
                      <a:r>
                        <a:rPr sz="1150" b="1">
                          <a:solidFill>
                            <a:srgbClr val="16283F"/>
                          </a:solidFill>
                          <a:latin typeface="Arial"/>
                        </a:rPr>
                        <a:t>Free Communities</a:t>
                      </a:r>
                    </a:p>
                  </a:txBody>
                  <a:tcPr marL="91440" marR="91440" marT="36576" marB="36576" anchor="ctr">
                    <a:solidFill>
                      <a:srgbClr val="DCEAF7"/>
                    </a:solidFill>
                  </a:tcPr>
                </a:tc>
                <a:tc>
                  <a:txBody>
                    <a:bodyPr wrap="square"/>
                    <a:lstStyle/>
                    <a:p>
                      <a:r>
                        <a:rPr sz="1150" b="1">
                          <a:solidFill>
                            <a:srgbClr val="16283F"/>
                          </a:solidFill>
                          <a:latin typeface="Arial"/>
                        </a:rPr>
                        <a:t>Traditional Consultancies</a:t>
                      </a:r>
                    </a:p>
                  </a:txBody>
                  <a:tcPr marL="91440" marR="91440" marT="36576" marB="36576" anchor="ctr">
                    <a:solidFill>
                      <a:srgbClr val="DCEAF7"/>
                    </a:solidFill>
                  </a:tcPr>
                </a:tc>
                <a:tc>
                  <a:txBody>
                    <a:bodyPr wrap="square"/>
                    <a:lstStyle/>
                    <a:p>
                      <a:r>
                        <a:rPr sz="1150" b="1">
                          <a:solidFill>
                            <a:srgbClr val="16283F"/>
                          </a:solidFill>
                          <a:latin typeface="Arial"/>
                        </a:rPr>
                        <a:t>Premium Consultancies</a:t>
                      </a:r>
                    </a:p>
                  </a:txBody>
                  <a:tcPr marL="91440" marR="91440" marT="36576" marB="36576" anchor="ctr">
                    <a:solidFill>
                      <a:srgbClr val="DCEAF7"/>
                    </a:solidFill>
                  </a:tcPr>
                </a:tc>
                <a:tc>
                  <a:txBody>
                    <a:bodyPr wrap="square"/>
                    <a:lstStyle/>
                    <a:p>
                      <a:r>
                        <a:rPr sz="1150" b="1">
                          <a:solidFill>
                            <a:srgbClr val="FFFFFF"/>
                          </a:solidFill>
                          <a:latin typeface="Arial"/>
                        </a:rPr>
                        <a:t>TAL</a:t>
                      </a:r>
                    </a:p>
                  </a:txBody>
                  <a:tcPr marL="91440" marR="91440" marT="36576" marB="36576" anchor="ctr">
                    <a:solidFill>
                      <a:srgbClr val="16283F"/>
                    </a:solidFill>
                  </a:tcPr>
                </a:tc>
              </a:tr>
              <a:tr h="509451">
                <a:tc>
                  <a:txBody>
                    <a:bodyPr wrap="square"/>
                    <a:lstStyle/>
                    <a:p>
                      <a:r>
                        <a:rPr sz="1050" b="1">
                          <a:solidFill>
                            <a:srgbClr val="16283F"/>
                          </a:solidFill>
                          <a:latin typeface="Arial"/>
                        </a:rPr>
                        <a:t>Cost</a:t>
                      </a:r>
                    </a:p>
                  </a:txBody>
                  <a:tcPr marL="91440" marR="91440" marT="36576" marB="36576" anchor="ctr">
                    <a:solidFill>
                      <a:srgbClr val="FFFFFF"/>
                    </a:solidFill>
                  </a:tcPr>
                </a:tc>
                <a:tc>
                  <a:txBody>
                    <a:bodyPr wrap="square"/>
                    <a:lstStyle/>
                    <a:p>
                      <a:r>
                        <a:rPr sz="1050">
                          <a:solidFill>
                            <a:srgbClr val="55677C"/>
                          </a:solidFill>
                          <a:latin typeface="Arial"/>
                        </a:rPr>
                        <a:t>Free</a:t>
                      </a:r>
                    </a:p>
                  </a:txBody>
                  <a:tcPr marL="91440" marR="91440" marT="36576" marB="36576" anchor="ctr">
                    <a:solidFill>
                      <a:srgbClr val="FFFFFF"/>
                    </a:solidFill>
                  </a:tcPr>
                </a:tc>
                <a:tc>
                  <a:txBody>
                    <a:bodyPr wrap="square"/>
                    <a:lstStyle/>
                    <a:p>
                      <a:r>
                        <a:rPr sz="1050">
                          <a:solidFill>
                            <a:srgbClr val="55677C"/>
                          </a:solidFill>
                          <a:latin typeface="Arial"/>
                        </a:rPr>
                        <a:t>Moderate</a:t>
                      </a:r>
                    </a:p>
                  </a:txBody>
                  <a:tcPr marL="91440" marR="91440" marT="36576" marB="36576" anchor="ctr">
                    <a:solidFill>
                      <a:srgbClr val="FFFFFF"/>
                    </a:solidFill>
                  </a:tcPr>
                </a:tc>
                <a:tc>
                  <a:txBody>
                    <a:bodyPr wrap="square"/>
                    <a:lstStyle/>
                    <a:p>
                      <a:r>
                        <a:rPr sz="1050">
                          <a:solidFill>
                            <a:srgbClr val="55677C"/>
                          </a:solidFill>
                          <a:latin typeface="Arial"/>
                        </a:rPr>
                        <a:t>High (above £1,000)</a:t>
                      </a:r>
                    </a:p>
                  </a:txBody>
                  <a:tcPr marL="91440" marR="91440" marT="36576" marB="36576" anchor="ctr">
                    <a:solidFill>
                      <a:srgbClr val="FFFFFF"/>
                    </a:solidFill>
                  </a:tcPr>
                </a:tc>
                <a:tc>
                  <a:txBody>
                    <a:bodyPr wrap="square"/>
                    <a:lstStyle/>
                    <a:p>
                      <a:r>
                        <a:rPr sz="1050" b="1">
                          <a:solidFill>
                            <a:srgbClr val="16283F"/>
                          </a:solidFill>
                          <a:latin typeface="Arial"/>
                        </a:rPr>
                        <a:t>Affordable (£54.99/hr)</a:t>
                      </a:r>
                    </a:p>
                  </a:txBody>
                  <a:tcPr marL="91440" marR="91440" marT="36576" marB="36576" anchor="ctr">
                    <a:solidFill>
                      <a:srgbClr val="EAF3FB"/>
                    </a:solidFill>
                  </a:tcPr>
                </a:tc>
              </a:tr>
              <a:tr h="509451">
                <a:tc>
                  <a:txBody>
                    <a:bodyPr wrap="square"/>
                    <a:lstStyle/>
                    <a:p>
                      <a:r>
                        <a:rPr sz="1050" b="1">
                          <a:solidFill>
                            <a:srgbClr val="16283F"/>
                          </a:solidFill>
                          <a:latin typeface="Arial"/>
                        </a:rPr>
                        <a:t>Personalisation</a:t>
                      </a:r>
                    </a:p>
                  </a:txBody>
                  <a:tcPr marL="91440" marR="91440" marT="36576" marB="36576" anchor="ctr">
                    <a:solidFill>
                      <a:srgbClr val="FFFFFF"/>
                    </a:solidFill>
                  </a:tcPr>
                </a:tc>
                <a:tc>
                  <a:txBody>
                    <a:bodyPr wrap="square"/>
                    <a:lstStyle/>
                    <a:p>
                      <a:r>
                        <a:rPr sz="1050">
                          <a:solidFill>
                            <a:srgbClr val="55677C"/>
                          </a:solidFill>
                          <a:latin typeface="Arial"/>
                        </a:rPr>
                        <a:t>Inconsistent</a:t>
                      </a:r>
                    </a:p>
                  </a:txBody>
                  <a:tcPr marL="91440" marR="91440" marT="36576" marB="36576" anchor="ctr">
                    <a:solidFill>
                      <a:srgbClr val="FFFFFF"/>
                    </a:solidFill>
                  </a:tcPr>
                </a:tc>
                <a:tc>
                  <a:txBody>
                    <a:bodyPr wrap="square"/>
                    <a:lstStyle/>
                    <a:p>
                      <a:r>
                        <a:rPr sz="1050">
                          <a:solidFill>
                            <a:srgbClr val="55677C"/>
                          </a:solidFill>
                          <a:latin typeface="Arial"/>
                        </a:rPr>
                        <a:t>Limited</a:t>
                      </a:r>
                    </a:p>
                  </a:txBody>
                  <a:tcPr marL="91440" marR="91440" marT="36576" marB="36576" anchor="ctr">
                    <a:solidFill>
                      <a:srgbClr val="FFFFFF"/>
                    </a:solidFill>
                  </a:tcPr>
                </a:tc>
                <a:tc>
                  <a:txBody>
                    <a:bodyPr wrap="square"/>
                    <a:lstStyle/>
                    <a:p>
                      <a:r>
                        <a:rPr sz="1050">
                          <a:solidFill>
                            <a:srgbClr val="55677C"/>
                          </a:solidFill>
                          <a:latin typeface="Arial"/>
                        </a:rPr>
                        <a:t>High</a:t>
                      </a:r>
                    </a:p>
                  </a:txBody>
                  <a:tcPr marL="91440" marR="91440" marT="36576" marB="36576" anchor="ctr">
                    <a:solidFill>
                      <a:srgbClr val="FFFFFF"/>
                    </a:solidFill>
                  </a:tcPr>
                </a:tc>
                <a:tc>
                  <a:txBody>
                    <a:bodyPr wrap="square"/>
                    <a:lstStyle/>
                    <a:p>
                      <a:r>
                        <a:rPr sz="1050" b="1">
                          <a:solidFill>
                            <a:srgbClr val="16283F"/>
                          </a:solidFill>
                          <a:latin typeface="Arial"/>
                        </a:rPr>
                        <a:t>High</a:t>
                      </a:r>
                    </a:p>
                  </a:txBody>
                  <a:tcPr marL="91440" marR="91440" marT="36576" marB="36576" anchor="ctr">
                    <a:solidFill>
                      <a:srgbClr val="EAF3FB"/>
                    </a:solidFill>
                  </a:tcPr>
                </a:tc>
              </a:tr>
              <a:tr h="509451">
                <a:tc>
                  <a:txBody>
                    <a:bodyPr wrap="square"/>
                    <a:lstStyle/>
                    <a:p>
                      <a:r>
                        <a:rPr sz="1050" b="1">
                          <a:solidFill>
                            <a:srgbClr val="16283F"/>
                          </a:solidFill>
                          <a:latin typeface="Arial"/>
                        </a:rPr>
                        <a:t>Mentors</a:t>
                      </a:r>
                    </a:p>
                  </a:txBody>
                  <a:tcPr marL="91440" marR="91440" marT="36576" marB="36576" anchor="ctr">
                    <a:solidFill>
                      <a:srgbClr val="FFFFFF"/>
                    </a:solidFill>
                  </a:tcPr>
                </a:tc>
                <a:tc>
                  <a:txBody>
                    <a:bodyPr wrap="square"/>
                    <a:lstStyle/>
                    <a:p>
                      <a:r>
                        <a:rPr sz="1050">
                          <a:solidFill>
                            <a:srgbClr val="55677C"/>
                          </a:solidFill>
                          <a:latin typeface="Arial"/>
                        </a:rPr>
                        <a:t>Volunteer-based</a:t>
                      </a:r>
                    </a:p>
                  </a:txBody>
                  <a:tcPr marL="91440" marR="91440" marT="36576" marB="36576" anchor="ctr">
                    <a:solidFill>
                      <a:srgbClr val="FFFFFF"/>
                    </a:solidFill>
                  </a:tcPr>
                </a:tc>
                <a:tc>
                  <a:txBody>
                    <a:bodyPr wrap="square"/>
                    <a:lstStyle/>
                    <a:p>
                      <a:r>
                        <a:rPr sz="1050">
                          <a:solidFill>
                            <a:srgbClr val="55677C"/>
                          </a:solidFill>
                          <a:latin typeface="Arial"/>
                        </a:rPr>
                        <a:t>Consultants</a:t>
                      </a:r>
                    </a:p>
                  </a:txBody>
                  <a:tcPr marL="91440" marR="91440" marT="36576" marB="36576" anchor="ctr">
                    <a:solidFill>
                      <a:srgbClr val="FFFFFF"/>
                    </a:solidFill>
                  </a:tcPr>
                </a:tc>
                <a:tc>
                  <a:txBody>
                    <a:bodyPr wrap="square"/>
                    <a:lstStyle/>
                    <a:p>
                      <a:r>
                        <a:rPr sz="1050">
                          <a:solidFill>
                            <a:srgbClr val="55677C"/>
                          </a:solidFill>
                          <a:latin typeface="Arial"/>
                        </a:rPr>
                        <a:t>Professional consultants</a:t>
                      </a:r>
                    </a:p>
                  </a:txBody>
                  <a:tcPr marL="91440" marR="91440" marT="36576" marB="36576" anchor="ctr">
                    <a:solidFill>
                      <a:srgbClr val="FFFFFF"/>
                    </a:solidFill>
                  </a:tcPr>
                </a:tc>
                <a:tc>
                  <a:txBody>
                    <a:bodyPr wrap="square"/>
                    <a:lstStyle/>
                    <a:p>
                      <a:r>
                        <a:rPr sz="1050" b="1">
                          <a:solidFill>
                            <a:srgbClr val="16283F"/>
                          </a:solidFill>
                          <a:latin typeface="Arial"/>
                        </a:rPr>
                        <a:t>Peers who've achieved the same outcome</a:t>
                      </a:r>
                    </a:p>
                  </a:txBody>
                  <a:tcPr marL="91440" marR="91440" marT="36576" marB="36576" anchor="ctr">
                    <a:solidFill>
                      <a:srgbClr val="EAF3FB"/>
                    </a:solidFill>
                  </a:tcPr>
                </a:tc>
              </a:tr>
              <a:tr h="509451">
                <a:tc>
                  <a:txBody>
                    <a:bodyPr wrap="square"/>
                    <a:lstStyle/>
                    <a:p>
                      <a:r>
                        <a:rPr sz="1050" b="1">
                          <a:solidFill>
                            <a:srgbClr val="16283F"/>
                          </a:solidFill>
                          <a:latin typeface="Arial"/>
                        </a:rPr>
                        <a:t>Incentives</a:t>
                      </a:r>
                    </a:p>
                  </a:txBody>
                  <a:tcPr marL="91440" marR="91440" marT="36576" marB="36576" anchor="ctr">
                    <a:solidFill>
                      <a:srgbClr val="FFFFFF"/>
                    </a:solidFill>
                  </a:tcPr>
                </a:tc>
                <a:tc>
                  <a:txBody>
                    <a:bodyPr wrap="square"/>
                    <a:lstStyle/>
                    <a:p>
                      <a:r>
                        <a:rPr sz="1050">
                          <a:solidFill>
                            <a:srgbClr val="55677C"/>
                          </a:solidFill>
                          <a:latin typeface="Arial"/>
                        </a:rPr>
                        <a:t>Volunteer availability</a:t>
                      </a:r>
                    </a:p>
                  </a:txBody>
                  <a:tcPr marL="91440" marR="91440" marT="36576" marB="36576" anchor="ctr">
                    <a:solidFill>
                      <a:srgbClr val="FFFFFF"/>
                    </a:solidFill>
                  </a:tcPr>
                </a:tc>
                <a:tc>
                  <a:txBody>
                    <a:bodyPr wrap="square"/>
                    <a:lstStyle/>
                    <a:p>
                      <a:r>
                        <a:rPr sz="1050">
                          <a:solidFill>
                            <a:srgbClr val="55677C"/>
                          </a:solidFill>
                          <a:latin typeface="Arial"/>
                        </a:rPr>
                        <a:t>Often commission-driven</a:t>
                      </a:r>
                    </a:p>
                  </a:txBody>
                  <a:tcPr marL="91440" marR="91440" marT="36576" marB="36576" anchor="ctr">
                    <a:solidFill>
                      <a:srgbClr val="FFFFFF"/>
                    </a:solidFill>
                  </a:tcPr>
                </a:tc>
                <a:tc>
                  <a:txBody>
                    <a:bodyPr wrap="square"/>
                    <a:lstStyle/>
                    <a:p>
                      <a:r>
                        <a:rPr sz="1050">
                          <a:solidFill>
                            <a:srgbClr val="55677C"/>
                          </a:solidFill>
                          <a:latin typeface="Arial"/>
                        </a:rPr>
                        <a:t>Client fees</a:t>
                      </a:r>
                    </a:p>
                  </a:txBody>
                  <a:tcPr marL="91440" marR="91440" marT="36576" marB="36576" anchor="ctr">
                    <a:solidFill>
                      <a:srgbClr val="FFFFFF"/>
                    </a:solidFill>
                  </a:tcPr>
                </a:tc>
                <a:tc>
                  <a:txBody>
                    <a:bodyPr wrap="square"/>
                    <a:lstStyle/>
                    <a:p>
                      <a:r>
                        <a:rPr sz="1050" b="1">
                          <a:solidFill>
                            <a:srgbClr val="16283F"/>
                          </a:solidFill>
                          <a:latin typeface="Arial"/>
                        </a:rPr>
                        <a:t>Student outcomes</a:t>
                      </a:r>
                    </a:p>
                  </a:txBody>
                  <a:tcPr marL="91440" marR="91440" marT="36576" marB="36576" anchor="ctr">
                    <a:solidFill>
                      <a:srgbClr val="EAF3FB"/>
                    </a:solidFill>
                  </a:tcPr>
                </a:tc>
              </a:tr>
              <a:tr h="509451">
                <a:tc>
                  <a:txBody>
                    <a:bodyPr wrap="square"/>
                    <a:lstStyle/>
                    <a:p>
                      <a:r>
                        <a:rPr sz="1050" b="1">
                          <a:solidFill>
                            <a:srgbClr val="16283F"/>
                          </a:solidFill>
                          <a:latin typeface="Arial"/>
                        </a:rPr>
                        <a:t>Continuity</a:t>
                      </a:r>
                    </a:p>
                  </a:txBody>
                  <a:tcPr marL="91440" marR="91440" marT="36576" marB="36576" anchor="ctr">
                    <a:solidFill>
                      <a:srgbClr val="FFFFFF"/>
                    </a:solidFill>
                  </a:tcPr>
                </a:tc>
                <a:tc>
                  <a:txBody>
                    <a:bodyPr wrap="square"/>
                    <a:lstStyle/>
                    <a:p>
                      <a:r>
                        <a:rPr sz="1050">
                          <a:solidFill>
                            <a:srgbClr val="55677C"/>
                          </a:solidFill>
                          <a:latin typeface="Arial"/>
                        </a:rPr>
                        <a:t>Can be inconsistent</a:t>
                      </a:r>
                    </a:p>
                  </a:txBody>
                  <a:tcPr marL="91440" marR="91440" marT="36576" marB="36576" anchor="ctr">
                    <a:solidFill>
                      <a:srgbClr val="FFFFFF"/>
                    </a:solidFill>
                  </a:tcPr>
                </a:tc>
                <a:tc>
                  <a:txBody>
                    <a:bodyPr wrap="square"/>
                    <a:lstStyle/>
                    <a:p>
                      <a:r>
                        <a:rPr sz="1050">
                          <a:solidFill>
                            <a:srgbClr val="55677C"/>
                          </a:solidFill>
                          <a:latin typeface="Arial"/>
                        </a:rPr>
                        <a:t>Transactional</a:t>
                      </a:r>
                    </a:p>
                  </a:txBody>
                  <a:tcPr marL="91440" marR="91440" marT="36576" marB="36576" anchor="ctr">
                    <a:solidFill>
                      <a:srgbClr val="FFFFFF"/>
                    </a:solidFill>
                  </a:tcPr>
                </a:tc>
                <a:tc>
                  <a:txBody>
                    <a:bodyPr wrap="square"/>
                    <a:lstStyle/>
                    <a:p>
                      <a:r>
                        <a:rPr sz="1050">
                          <a:solidFill>
                            <a:srgbClr val="55677C"/>
                          </a:solidFill>
                          <a:latin typeface="Arial"/>
                        </a:rPr>
                        <a:t>High</a:t>
                      </a:r>
                    </a:p>
                  </a:txBody>
                  <a:tcPr marL="91440" marR="91440" marT="36576" marB="36576" anchor="ctr">
                    <a:solidFill>
                      <a:srgbClr val="FFFFFF"/>
                    </a:solidFill>
                  </a:tcPr>
                </a:tc>
                <a:tc>
                  <a:txBody>
                    <a:bodyPr wrap="square"/>
                    <a:lstStyle/>
                    <a:p>
                      <a:r>
                        <a:rPr sz="1050" b="1">
                          <a:solidFill>
                            <a:srgbClr val="16283F"/>
                          </a:solidFill>
                          <a:latin typeface="Arial"/>
                        </a:rPr>
                        <a:t>End-to-end support</a:t>
                      </a:r>
                    </a:p>
                  </a:txBody>
                  <a:tcPr marL="91440" marR="91440" marT="36576" marB="36576" anchor="ctr">
                    <a:solidFill>
                      <a:srgbClr val="EAF3FB"/>
                    </a:solidFill>
                  </a:tcPr>
                </a:tc>
              </a:tr>
              <a:tr h="509451">
                <a:tc>
                  <a:txBody>
                    <a:bodyPr wrap="square"/>
                    <a:lstStyle/>
                    <a:p>
                      <a:r>
                        <a:rPr sz="1050" b="1">
                          <a:solidFill>
                            <a:srgbClr val="16283F"/>
                          </a:solidFill>
                          <a:latin typeface="Arial"/>
                        </a:rPr>
                        <a:t>Technology</a:t>
                      </a:r>
                    </a:p>
                  </a:txBody>
                  <a:tcPr marL="91440" marR="91440" marT="36576" marB="36576" anchor="ctr">
                    <a:solidFill>
                      <a:srgbClr val="FFFFFF"/>
                    </a:solidFill>
                  </a:tcPr>
                </a:tc>
                <a:tc>
                  <a:txBody>
                    <a:bodyPr wrap="square"/>
                    <a:lstStyle/>
                    <a:p>
                      <a:r>
                        <a:rPr sz="1050">
                          <a:solidFill>
                            <a:srgbClr val="55677C"/>
                          </a:solidFill>
                          <a:latin typeface="Arial"/>
                        </a:rPr>
                        <a:t>Limited</a:t>
                      </a:r>
                    </a:p>
                  </a:txBody>
                  <a:tcPr marL="91440" marR="91440" marT="36576" marB="36576" anchor="ctr">
                    <a:solidFill>
                      <a:srgbClr val="FFFFFF"/>
                    </a:solidFill>
                  </a:tcPr>
                </a:tc>
                <a:tc>
                  <a:txBody>
                    <a:bodyPr wrap="square"/>
                    <a:lstStyle/>
                    <a:p>
                      <a:r>
                        <a:rPr sz="1050">
                          <a:solidFill>
                            <a:srgbClr val="55677C"/>
                          </a:solidFill>
                          <a:latin typeface="Arial"/>
                        </a:rPr>
                        <a:t>Limited</a:t>
                      </a:r>
                    </a:p>
                  </a:txBody>
                  <a:tcPr marL="91440" marR="91440" marT="36576" marB="36576" anchor="ctr">
                    <a:solidFill>
                      <a:srgbClr val="FFFFFF"/>
                    </a:solidFill>
                  </a:tcPr>
                </a:tc>
                <a:tc>
                  <a:txBody>
                    <a:bodyPr wrap="square"/>
                    <a:lstStyle/>
                    <a:p>
                      <a:r>
                        <a:rPr sz="1050">
                          <a:solidFill>
                            <a:srgbClr val="55677C"/>
                          </a:solidFill>
                          <a:latin typeface="Arial"/>
                        </a:rPr>
                        <a:t>Limited</a:t>
                      </a:r>
                    </a:p>
                  </a:txBody>
                  <a:tcPr marL="91440" marR="91440" marT="36576" marB="36576" anchor="ctr">
                    <a:solidFill>
                      <a:srgbClr val="FFFFFF"/>
                    </a:solidFill>
                  </a:tcPr>
                </a:tc>
                <a:tc>
                  <a:txBody>
                    <a:bodyPr wrap="square"/>
                    <a:lstStyle/>
                    <a:p>
                      <a:r>
                        <a:rPr sz="1050" b="1">
                          <a:solidFill>
                            <a:srgbClr val="16283F"/>
                          </a:solidFill>
                          <a:latin typeface="Arial"/>
                        </a:rPr>
                        <a:t>AI-powered platform + community + mentors</a:t>
                      </a:r>
                    </a:p>
                  </a:txBody>
                  <a:tcPr marL="91440" marR="91440" marT="36576" marB="36576" anchor="ctr">
                    <a:solidFill>
                      <a:srgbClr val="EAF3FB"/>
                    </a:solidFill>
                  </a:tcPr>
                </a:tc>
              </a:tr>
            </a:tbl>
          </a:graphicData>
        </a:graphic>
      </p:graphicFrame>
      <p:sp>
        <p:nvSpPr>
          <p:cNvPr id="8" name="TextBox 7"/>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Rounded Rectangle 2"/>
          <p:cNvSpPr/>
          <p:nvPr/>
        </p:nvSpPr>
        <p:spPr>
          <a:xfrm>
            <a:off x="640080" y="411480"/>
            <a:ext cx="10881360" cy="868680"/>
          </a:xfrm>
          <a:prstGeom prst="roundRect">
            <a:avLst>
              <a:gd name="adj" fmla="val 4000"/>
            </a:avLst>
          </a:prstGeom>
          <a:solidFill>
            <a:srgbClr val="16283F"/>
          </a:solidFill>
          <a:ln>
            <a:noFill/>
          </a:ln>
          <a:effectLst/>
        </p:spPr>
        <p:txBody>
          <a:bodyPr rtlCol="0" anchor="ctr"/>
          <a:lstStyle/>
          <a:p>
            <a:pPr algn="ctr"/>
          </a:p>
        </p:txBody>
      </p:sp>
      <p:sp>
        <p:nvSpPr>
          <p:cNvPr id="4" name="TextBox 3"/>
          <p:cNvSpPr txBox="1"/>
          <p:nvPr/>
        </p:nvSpPr>
        <p:spPr>
          <a:xfrm>
            <a:off x="914400" y="512064"/>
            <a:ext cx="9144000" cy="274320"/>
          </a:xfrm>
          <a:prstGeom prst="rect">
            <a:avLst/>
          </a:prstGeom>
          <a:noFill/>
        </p:spPr>
        <p:txBody>
          <a:bodyPr wrap="square" anchor="t" lIns="0" rIns="0" tIns="0" bIns="0">
            <a:spAutoFit/>
          </a:bodyPr>
          <a:lstStyle/>
          <a:p>
            <a:pPr algn="l">
              <a:lnSpc>
                <a:spcPct val="115000"/>
              </a:lnSpc>
              <a:spcAft>
                <a:spcPts val="0"/>
              </a:spcAft>
            </a:pPr>
            <a:r>
              <a:rPr sz="1100" b="1" i="0" spc="120">
                <a:solidFill>
                  <a:srgbClr val="6BB6EE"/>
                </a:solidFill>
                <a:latin typeface="Arial"/>
              </a:rPr>
              <a:t>SERVICE 01</a:t>
            </a:r>
          </a:p>
        </p:txBody>
      </p:sp>
      <p:sp>
        <p:nvSpPr>
          <p:cNvPr id="5" name="TextBox 4"/>
          <p:cNvSpPr txBox="1"/>
          <p:nvPr/>
        </p:nvSpPr>
        <p:spPr>
          <a:xfrm>
            <a:off x="914400" y="777240"/>
            <a:ext cx="9144000" cy="457200"/>
          </a:xfrm>
          <a:prstGeom prst="rect">
            <a:avLst/>
          </a:prstGeom>
          <a:noFill/>
        </p:spPr>
        <p:txBody>
          <a:bodyPr wrap="square" anchor="t" lIns="0" rIns="0" tIns="0" bIns="0">
            <a:spAutoFit/>
          </a:bodyPr>
          <a:lstStyle/>
          <a:p>
            <a:pPr algn="l">
              <a:lnSpc>
                <a:spcPct val="115000"/>
              </a:lnSpc>
              <a:spcAft>
                <a:spcPts val="0"/>
              </a:spcAft>
            </a:pPr>
            <a:r>
              <a:rPr sz="1450" b="1" i="0">
                <a:solidFill>
                  <a:srgbClr val="FFFFFF"/>
                </a:solidFill>
                <a:latin typeface="Arial"/>
              </a:rPr>
              <a:t>Lab Focus — one to one live sessions with a mentor who has navigated your exact application</a:t>
            </a:r>
          </a:p>
        </p:txBody>
      </p:sp>
      <p:sp>
        <p:nvSpPr>
          <p:cNvPr id="6" name="TextBox 5"/>
          <p:cNvSpPr txBox="1"/>
          <p:nvPr/>
        </p:nvSpPr>
        <p:spPr>
          <a:xfrm>
            <a:off x="640080" y="1444752"/>
            <a:ext cx="10881360" cy="960120"/>
          </a:xfrm>
          <a:prstGeom prst="rect">
            <a:avLst/>
          </a:prstGeom>
          <a:noFill/>
        </p:spPr>
        <p:txBody>
          <a:bodyPr wrap="square" anchor="t" lIns="0" rIns="0" tIns="0" bIns="0">
            <a:spAutoFit/>
          </a:bodyPr>
          <a:lstStyle/>
          <a:p>
            <a:pPr algn="l">
              <a:lnSpc>
                <a:spcPct val="128000"/>
              </a:lnSpc>
              <a:spcAft>
                <a:spcPts val="0"/>
              </a:spcAft>
            </a:pPr>
            <a:r>
              <a:rPr sz="1200" b="0" i="0">
                <a:solidFill>
                  <a:srgbClr val="3E4E60"/>
                </a:solidFill>
                <a:latin typeface="Arial"/>
              </a:rPr>
              <a:t>Each session is a 60 minute conversation with a mentor matched to your application. There are no set formats and no fixed agendas — you decide what you need from each session. Prefer it in writing? You can convert any single session into a written document review instead, as long as it is completed within 60 minutes.</a:t>
            </a:r>
          </a:p>
        </p:txBody>
      </p:sp>
      <p:graphicFrame>
        <p:nvGraphicFramePr>
          <p:cNvPr id="7" name="Table 6"/>
          <p:cNvGraphicFramePr>
            <a:graphicFrameLocks noGrp="1"/>
          </p:cNvGraphicFramePr>
          <p:nvPr/>
        </p:nvGraphicFramePr>
        <p:xfrm>
          <a:off x="640080" y="2542032"/>
          <a:ext cx="10881360" cy="3108960"/>
        </p:xfrm>
        <a:graphic>
          <a:graphicData uri="http://schemas.openxmlformats.org/drawingml/2006/table">
            <a:tbl>
              <a:tblPr>
                <a:tableStyleId>{2D5ABB26-0587-4C30-8999-92F81FD0307C}</a:tableStyleId>
              </a:tblPr>
              <a:tblGrid>
                <a:gridCol w="2468880"/>
                <a:gridCol w="1051560"/>
                <a:gridCol w="868680"/>
                <a:gridCol w="4663440"/>
                <a:gridCol w="1828800"/>
              </a:tblGrid>
              <a:tr h="518160">
                <a:tc>
                  <a:txBody>
                    <a:bodyPr wrap="square"/>
                    <a:lstStyle/>
                    <a:p>
                      <a:r>
                        <a:rPr sz="1200" b="1">
                          <a:solidFill>
                            <a:srgbClr val="16283F"/>
                          </a:solidFill>
                          <a:latin typeface="Arial"/>
                        </a:rPr>
                        <a:t>Package</a:t>
                      </a:r>
                    </a:p>
                  </a:txBody>
                  <a:tcPr marL="91440" marR="91440" anchor="ctr">
                    <a:solidFill>
                      <a:srgbClr val="DCEAF7"/>
                    </a:solidFill>
                  </a:tcPr>
                </a:tc>
                <a:tc>
                  <a:txBody>
                    <a:bodyPr wrap="square"/>
                    <a:lstStyle/>
                    <a:p>
                      <a:r>
                        <a:rPr sz="1200" b="1">
                          <a:solidFill>
                            <a:srgbClr val="16283F"/>
                          </a:solidFill>
                          <a:latin typeface="Arial"/>
                        </a:rPr>
                        <a:t>Price</a:t>
                      </a:r>
                    </a:p>
                  </a:txBody>
                  <a:tcPr marL="91440" marR="91440" anchor="ctr">
                    <a:solidFill>
                      <a:srgbClr val="DCEAF7"/>
                    </a:solidFill>
                  </a:tcPr>
                </a:tc>
                <a:tc>
                  <a:txBody>
                    <a:bodyPr wrap="square"/>
                    <a:lstStyle/>
                    <a:p>
                      <a:r>
                        <a:rPr sz="1200" b="1">
                          <a:solidFill>
                            <a:srgbClr val="16283F"/>
                          </a:solidFill>
                          <a:latin typeface="Arial"/>
                        </a:rPr>
                        <a:t>Save</a:t>
                      </a:r>
                    </a:p>
                  </a:txBody>
                  <a:tcPr marL="91440" marR="91440" anchor="ctr">
                    <a:solidFill>
                      <a:srgbClr val="DCEAF7"/>
                    </a:solidFill>
                  </a:tcPr>
                </a:tc>
                <a:tc>
                  <a:txBody>
                    <a:bodyPr wrap="square"/>
                    <a:lstStyle/>
                    <a:p>
                      <a:r>
                        <a:rPr sz="1200" b="1">
                          <a:solidFill>
                            <a:srgbClr val="16283F"/>
                          </a:solidFill>
                          <a:latin typeface="Arial"/>
                        </a:rPr>
                        <a:t>Best for</a:t>
                      </a:r>
                    </a:p>
                  </a:txBody>
                  <a:tcPr marL="91440" marR="91440" anchor="ctr">
                    <a:solidFill>
                      <a:srgbClr val="DCEAF7"/>
                    </a:solidFill>
                  </a:tcPr>
                </a:tc>
                <a:tc>
                  <a:txBody>
                    <a:bodyPr wrap="square"/>
                    <a:lstStyle/>
                    <a:p>
                      <a:r>
                        <a:rPr sz="1200" b="1">
                          <a:solidFill>
                            <a:srgbClr val="16283F"/>
                          </a:solidFill>
                          <a:latin typeface="Arial"/>
                        </a:rPr>
                        <a:t>Valid for</a:t>
                      </a:r>
                    </a:p>
                  </a:txBody>
                  <a:tcPr marL="91440" marR="91440" anchor="ctr">
                    <a:solidFill>
                      <a:srgbClr val="DCEAF7"/>
                    </a:solidFill>
                  </a:tcPr>
                </a:tc>
              </a:tr>
              <a:tr h="518160">
                <a:tc>
                  <a:txBody>
                    <a:bodyPr wrap="square"/>
                    <a:lstStyle/>
                    <a:p>
                      <a:r>
                        <a:rPr sz="1150" b="1">
                          <a:solidFill>
                            <a:srgbClr val="16283F"/>
                          </a:solidFill>
                          <a:latin typeface="Arial"/>
                        </a:rPr>
                        <a:t>1 session</a:t>
                      </a:r>
                    </a:p>
                  </a:txBody>
                  <a:tcPr marL="91440" marR="91440" anchor="ctr">
                    <a:solidFill>
                      <a:srgbClr val="FFFFFF"/>
                    </a:solidFill>
                  </a:tcPr>
                </a:tc>
                <a:tc>
                  <a:txBody>
                    <a:bodyPr wrap="square"/>
                    <a:lstStyle/>
                    <a:p>
                      <a:r>
                        <a:rPr sz="1150" b="1">
                          <a:solidFill>
                            <a:srgbClr val="16283F"/>
                          </a:solidFill>
                          <a:latin typeface="Arial"/>
                        </a:rPr>
                        <a:t>£54.99</a:t>
                      </a:r>
                    </a:p>
                  </a:txBody>
                  <a:tcPr marL="91440" marR="91440" anchor="ctr">
                    <a:solidFill>
                      <a:srgbClr val="FFFFFF"/>
                    </a:solidFill>
                  </a:tcPr>
                </a:tc>
                <a:tc>
                  <a:txBody>
                    <a:bodyPr wrap="square"/>
                    <a:lstStyle/>
                    <a:p>
                      <a:r>
                        <a:rPr sz="1150" b="0">
                          <a:solidFill>
                            <a:srgbClr val="16283F"/>
                          </a:solidFill>
                          <a:latin typeface="Arial"/>
                        </a:rPr>
                        <a:t>—</a:t>
                      </a:r>
                    </a:p>
                  </a:txBody>
                  <a:tcPr marL="91440" marR="91440" anchor="ctr">
                    <a:solidFill>
                      <a:srgbClr val="FFFFFF"/>
                    </a:solidFill>
                  </a:tcPr>
                </a:tc>
                <a:tc>
                  <a:txBody>
                    <a:bodyPr wrap="square"/>
                    <a:lstStyle/>
                    <a:p>
                      <a:r>
                        <a:rPr sz="1150" b="0">
                          <a:solidFill>
                            <a:srgbClr val="55677C"/>
                          </a:solidFill>
                          <a:latin typeface="Arial"/>
                        </a:rPr>
                        <a:t>One specific thing to work through right now</a:t>
                      </a:r>
                    </a:p>
                  </a:txBody>
                  <a:tcPr marL="91440" marR="91440" anchor="ctr">
                    <a:solidFill>
                      <a:srgbClr val="FFFFFF"/>
                    </a:solidFill>
                  </a:tcPr>
                </a:tc>
                <a:tc>
                  <a:txBody>
                    <a:bodyPr wrap="square"/>
                    <a:lstStyle/>
                    <a:p>
                      <a:r>
                        <a:rPr sz="1150" b="0">
                          <a:solidFill>
                            <a:srgbClr val="55677C"/>
                          </a:solidFill>
                          <a:latin typeface="Arial"/>
                        </a:rPr>
                        <a:t>30 days</a:t>
                      </a:r>
                    </a:p>
                  </a:txBody>
                  <a:tcPr marL="91440" marR="91440" anchor="ctr">
                    <a:solidFill>
                      <a:srgbClr val="FFFFFF"/>
                    </a:solidFill>
                  </a:tcPr>
                </a:tc>
              </a:tr>
              <a:tr h="518160">
                <a:tc>
                  <a:txBody>
                    <a:bodyPr wrap="square"/>
                    <a:lstStyle/>
                    <a:p>
                      <a:r>
                        <a:rPr sz="1150" b="1">
                          <a:solidFill>
                            <a:srgbClr val="16283F"/>
                          </a:solidFill>
                          <a:latin typeface="Arial"/>
                        </a:rPr>
                        <a:t>2 sessions</a:t>
                      </a:r>
                    </a:p>
                  </a:txBody>
                  <a:tcPr marL="91440" marR="91440" anchor="ctr">
                    <a:solidFill>
                      <a:srgbClr val="FFFFFF"/>
                    </a:solidFill>
                  </a:tcPr>
                </a:tc>
                <a:tc>
                  <a:txBody>
                    <a:bodyPr wrap="square"/>
                    <a:lstStyle/>
                    <a:p>
                      <a:r>
                        <a:rPr sz="1150" b="1">
                          <a:solidFill>
                            <a:srgbClr val="16283F"/>
                          </a:solidFill>
                          <a:latin typeface="Arial"/>
                        </a:rPr>
                        <a:t>£104.99</a:t>
                      </a:r>
                    </a:p>
                  </a:txBody>
                  <a:tcPr marL="91440" marR="91440" anchor="ctr">
                    <a:solidFill>
                      <a:srgbClr val="FFFFFF"/>
                    </a:solidFill>
                  </a:tcPr>
                </a:tc>
                <a:tc>
                  <a:txBody>
                    <a:bodyPr wrap="square"/>
                    <a:lstStyle/>
                    <a:p>
                      <a:r>
                        <a:rPr sz="1150" b="0">
                          <a:solidFill>
                            <a:srgbClr val="1F8A4C"/>
                          </a:solidFill>
                          <a:latin typeface="Arial"/>
                        </a:rPr>
                        <a:t>4.54%</a:t>
                      </a:r>
                    </a:p>
                  </a:txBody>
                  <a:tcPr marL="91440" marR="91440" anchor="ctr">
                    <a:solidFill>
                      <a:srgbClr val="FFFFFF"/>
                    </a:solidFill>
                  </a:tcPr>
                </a:tc>
                <a:tc>
                  <a:txBody>
                    <a:bodyPr wrap="square"/>
                    <a:lstStyle/>
                    <a:p>
                      <a:r>
                        <a:rPr sz="1150" b="0">
                          <a:solidFill>
                            <a:srgbClr val="55677C"/>
                          </a:solidFill>
                          <a:latin typeface="Arial"/>
                        </a:rPr>
                        <a:t>A draft plus a follow-up round of feedback</a:t>
                      </a:r>
                    </a:p>
                  </a:txBody>
                  <a:tcPr marL="91440" marR="91440" anchor="ctr">
                    <a:solidFill>
                      <a:srgbClr val="FFFFFF"/>
                    </a:solidFill>
                  </a:tcPr>
                </a:tc>
                <a:tc>
                  <a:txBody>
                    <a:bodyPr wrap="square"/>
                    <a:lstStyle/>
                    <a:p>
                      <a:r>
                        <a:rPr sz="1150" b="0">
                          <a:solidFill>
                            <a:srgbClr val="55677C"/>
                          </a:solidFill>
                          <a:latin typeface="Arial"/>
                        </a:rPr>
                        <a:t>60 days</a:t>
                      </a:r>
                    </a:p>
                  </a:txBody>
                  <a:tcPr marL="91440" marR="91440" anchor="ctr">
                    <a:solidFill>
                      <a:srgbClr val="FFFFFF"/>
                    </a:solidFill>
                  </a:tcPr>
                </a:tc>
              </a:tr>
              <a:tr h="518160">
                <a:tc>
                  <a:txBody>
                    <a:bodyPr wrap="square"/>
                    <a:lstStyle/>
                    <a:p>
                      <a:r>
                        <a:rPr sz="1150" b="1">
                          <a:solidFill>
                            <a:srgbClr val="16283F"/>
                          </a:solidFill>
                          <a:latin typeface="Arial"/>
                        </a:rPr>
                        <a:t>4 sessions  ★ Most popular</a:t>
                      </a:r>
                    </a:p>
                  </a:txBody>
                  <a:tcPr marL="91440" marR="91440" anchor="ctr">
                    <a:solidFill>
                      <a:srgbClr val="EAF3FB"/>
                    </a:solidFill>
                  </a:tcPr>
                </a:tc>
                <a:tc>
                  <a:txBody>
                    <a:bodyPr wrap="square"/>
                    <a:lstStyle/>
                    <a:p>
                      <a:r>
                        <a:rPr sz="1150" b="1">
                          <a:solidFill>
                            <a:srgbClr val="16283F"/>
                          </a:solidFill>
                          <a:latin typeface="Arial"/>
                        </a:rPr>
                        <a:t>£199.99</a:t>
                      </a:r>
                    </a:p>
                  </a:txBody>
                  <a:tcPr marL="91440" marR="91440" anchor="ctr">
                    <a:solidFill>
                      <a:srgbClr val="EAF3FB"/>
                    </a:solidFill>
                  </a:tcPr>
                </a:tc>
                <a:tc>
                  <a:txBody>
                    <a:bodyPr wrap="square"/>
                    <a:lstStyle/>
                    <a:p>
                      <a:r>
                        <a:rPr sz="1150" b="0">
                          <a:solidFill>
                            <a:srgbClr val="1F8A4C"/>
                          </a:solidFill>
                          <a:latin typeface="Arial"/>
                        </a:rPr>
                        <a:t>9.08%</a:t>
                      </a:r>
                    </a:p>
                  </a:txBody>
                  <a:tcPr marL="91440" marR="91440" anchor="ctr">
                    <a:solidFill>
                      <a:srgbClr val="EAF3FB"/>
                    </a:solidFill>
                  </a:tcPr>
                </a:tc>
                <a:tc>
                  <a:txBody>
                    <a:bodyPr wrap="square"/>
                    <a:lstStyle/>
                    <a:p>
                      <a:r>
                        <a:rPr sz="1150" b="0">
                          <a:solidFill>
                            <a:srgbClr val="55677C"/>
                          </a:solidFill>
                          <a:latin typeface="Arial"/>
                        </a:rPr>
                        <a:t>Strategy, two rounds of feedback, and interview prep</a:t>
                      </a:r>
                    </a:p>
                  </a:txBody>
                  <a:tcPr marL="91440" marR="91440" anchor="ctr">
                    <a:solidFill>
                      <a:srgbClr val="EAF3FB"/>
                    </a:solidFill>
                  </a:tcPr>
                </a:tc>
                <a:tc>
                  <a:txBody>
                    <a:bodyPr wrap="square"/>
                    <a:lstStyle/>
                    <a:p>
                      <a:r>
                        <a:rPr sz="1150" b="0">
                          <a:solidFill>
                            <a:srgbClr val="55677C"/>
                          </a:solidFill>
                          <a:latin typeface="Arial"/>
                        </a:rPr>
                        <a:t>120 days</a:t>
                      </a:r>
                    </a:p>
                  </a:txBody>
                  <a:tcPr marL="91440" marR="91440" anchor="ctr">
                    <a:solidFill>
                      <a:srgbClr val="EAF3FB"/>
                    </a:solidFill>
                  </a:tcPr>
                </a:tc>
              </a:tr>
              <a:tr h="518160">
                <a:tc>
                  <a:txBody>
                    <a:bodyPr wrap="square"/>
                    <a:lstStyle/>
                    <a:p>
                      <a:r>
                        <a:rPr sz="1150" b="1">
                          <a:solidFill>
                            <a:srgbClr val="16283F"/>
                          </a:solidFill>
                          <a:latin typeface="Arial"/>
                        </a:rPr>
                        <a:t>6 sessions</a:t>
                      </a:r>
                    </a:p>
                  </a:txBody>
                  <a:tcPr marL="91440" marR="91440" anchor="ctr">
                    <a:solidFill>
                      <a:srgbClr val="FFFFFF"/>
                    </a:solidFill>
                  </a:tcPr>
                </a:tc>
                <a:tc>
                  <a:txBody>
                    <a:bodyPr wrap="square"/>
                    <a:lstStyle/>
                    <a:p>
                      <a:r>
                        <a:rPr sz="1150" b="1">
                          <a:solidFill>
                            <a:srgbClr val="16283F"/>
                          </a:solidFill>
                          <a:latin typeface="Arial"/>
                        </a:rPr>
                        <a:t>£289.99</a:t>
                      </a:r>
                    </a:p>
                  </a:txBody>
                  <a:tcPr marL="91440" marR="91440" anchor="ctr">
                    <a:solidFill>
                      <a:srgbClr val="FFFFFF"/>
                    </a:solidFill>
                  </a:tcPr>
                </a:tc>
                <a:tc>
                  <a:txBody>
                    <a:bodyPr wrap="square"/>
                    <a:lstStyle/>
                    <a:p>
                      <a:r>
                        <a:rPr sz="1150" b="0">
                          <a:solidFill>
                            <a:srgbClr val="1F8A4C"/>
                          </a:solidFill>
                          <a:latin typeface="Arial"/>
                        </a:rPr>
                        <a:t>12.11%</a:t>
                      </a:r>
                    </a:p>
                  </a:txBody>
                  <a:tcPr marL="91440" marR="91440" anchor="ctr">
                    <a:solidFill>
                      <a:srgbClr val="FFFFFF"/>
                    </a:solidFill>
                  </a:tcPr>
                </a:tc>
                <a:tc>
                  <a:txBody>
                    <a:bodyPr wrap="square"/>
                    <a:lstStyle/>
                    <a:p>
                      <a:r>
                        <a:rPr sz="1150" b="0">
                          <a:solidFill>
                            <a:srgbClr val="55677C"/>
                          </a:solidFill>
                          <a:latin typeface="Arial"/>
                        </a:rPr>
                        <a:t>Thorough support from the beginning</a:t>
                      </a:r>
                    </a:p>
                  </a:txBody>
                  <a:tcPr marL="91440" marR="91440" anchor="ctr">
                    <a:solidFill>
                      <a:srgbClr val="FFFFFF"/>
                    </a:solidFill>
                  </a:tcPr>
                </a:tc>
                <a:tc>
                  <a:txBody>
                    <a:bodyPr wrap="square"/>
                    <a:lstStyle/>
                    <a:p>
                      <a:r>
                        <a:rPr sz="1150" b="0">
                          <a:solidFill>
                            <a:srgbClr val="55677C"/>
                          </a:solidFill>
                          <a:latin typeface="Arial"/>
                        </a:rPr>
                        <a:t>180 days</a:t>
                      </a:r>
                    </a:p>
                  </a:txBody>
                  <a:tcPr marL="91440" marR="91440" anchor="ctr">
                    <a:solidFill>
                      <a:srgbClr val="FFFFFF"/>
                    </a:solidFill>
                  </a:tcPr>
                </a:tc>
              </a:tr>
              <a:tr h="518160">
                <a:tc>
                  <a:txBody>
                    <a:bodyPr wrap="square"/>
                    <a:lstStyle/>
                    <a:p>
                      <a:r>
                        <a:rPr sz="1150" b="1">
                          <a:solidFill>
                            <a:srgbClr val="16283F"/>
                          </a:solidFill>
                          <a:latin typeface="Arial"/>
                        </a:rPr>
                        <a:t>10 sessions</a:t>
                      </a:r>
                    </a:p>
                  </a:txBody>
                  <a:tcPr marL="91440" marR="91440" anchor="ctr">
                    <a:solidFill>
                      <a:srgbClr val="FFFFFF"/>
                    </a:solidFill>
                  </a:tcPr>
                </a:tc>
                <a:tc>
                  <a:txBody>
                    <a:bodyPr wrap="square"/>
                    <a:lstStyle/>
                    <a:p>
                      <a:r>
                        <a:rPr sz="1150" b="1">
                          <a:solidFill>
                            <a:srgbClr val="16283F"/>
                          </a:solidFill>
                          <a:latin typeface="Arial"/>
                        </a:rPr>
                        <a:t>£469.99</a:t>
                      </a:r>
                    </a:p>
                  </a:txBody>
                  <a:tcPr marL="91440" marR="91440" anchor="ctr">
                    <a:solidFill>
                      <a:srgbClr val="FFFFFF"/>
                    </a:solidFill>
                  </a:tcPr>
                </a:tc>
                <a:tc>
                  <a:txBody>
                    <a:bodyPr wrap="square"/>
                    <a:lstStyle/>
                    <a:p>
                      <a:r>
                        <a:rPr sz="1150" b="0">
                          <a:solidFill>
                            <a:srgbClr val="1F8A4C"/>
                          </a:solidFill>
                          <a:latin typeface="Arial"/>
                        </a:rPr>
                        <a:t>14.53%</a:t>
                      </a:r>
                    </a:p>
                  </a:txBody>
                  <a:tcPr marL="91440" marR="91440" anchor="ctr">
                    <a:solidFill>
                      <a:srgbClr val="FFFFFF"/>
                    </a:solidFill>
                  </a:tcPr>
                </a:tc>
                <a:tc>
                  <a:txBody>
                    <a:bodyPr wrap="square"/>
                    <a:lstStyle/>
                    <a:p>
                      <a:r>
                        <a:rPr sz="1150" b="0">
                          <a:solidFill>
                            <a:srgbClr val="55677C"/>
                          </a:solidFill>
                          <a:latin typeface="Arial"/>
                        </a:rPr>
                        <a:t>Multiple applications running at once</a:t>
                      </a:r>
                    </a:p>
                  </a:txBody>
                  <a:tcPr marL="91440" marR="91440" anchor="ctr">
                    <a:solidFill>
                      <a:srgbClr val="FFFFFF"/>
                    </a:solidFill>
                  </a:tcPr>
                </a:tc>
                <a:tc>
                  <a:txBody>
                    <a:bodyPr wrap="square"/>
                    <a:lstStyle/>
                    <a:p>
                      <a:r>
                        <a:rPr sz="1150" b="0">
                          <a:solidFill>
                            <a:srgbClr val="55677C"/>
                          </a:solidFill>
                          <a:latin typeface="Arial"/>
                        </a:rPr>
                        <a:t>12 months</a:t>
                      </a:r>
                    </a:p>
                  </a:txBody>
                  <a:tcPr marL="91440" marR="91440" anchor="ctr">
                    <a:solidFill>
                      <a:srgbClr val="FFFFFF"/>
                    </a:solidFill>
                  </a:tcPr>
                </a:tc>
              </a:tr>
            </a:tbl>
          </a:graphicData>
        </a:graphic>
      </p:graphicFrame>
      <p:sp>
        <p:nvSpPr>
          <p:cNvPr id="8" name="Rounded Rectangle 7"/>
          <p:cNvSpPr/>
          <p:nvPr/>
        </p:nvSpPr>
        <p:spPr>
          <a:xfrm>
            <a:off x="640080" y="5779008"/>
            <a:ext cx="10881360" cy="777240"/>
          </a:xfrm>
          <a:prstGeom prst="roundRect">
            <a:avLst>
              <a:gd name="adj" fmla="val 5000"/>
            </a:avLst>
          </a:prstGeom>
          <a:solidFill>
            <a:srgbClr val="FEF7E8"/>
          </a:solidFill>
          <a:ln w="12700">
            <a:solidFill>
              <a:srgbClr val="F0D999"/>
            </a:solidFill>
          </a:ln>
          <a:effectLst/>
        </p:spPr>
        <p:txBody>
          <a:bodyPr rtlCol="0" anchor="ctr"/>
          <a:lstStyle/>
          <a:p>
            <a:pPr algn="ctr"/>
          </a:p>
        </p:txBody>
      </p:sp>
      <p:sp>
        <p:nvSpPr>
          <p:cNvPr id="9" name="TextBox 8"/>
          <p:cNvSpPr txBox="1"/>
          <p:nvPr/>
        </p:nvSpPr>
        <p:spPr>
          <a:xfrm>
            <a:off x="914400" y="5888736"/>
            <a:ext cx="10332720" cy="594360"/>
          </a:xfrm>
          <a:prstGeom prst="rect">
            <a:avLst/>
          </a:prstGeom>
          <a:noFill/>
        </p:spPr>
        <p:txBody>
          <a:bodyPr wrap="square" anchor="t" lIns="0" rIns="0" tIns="0" bIns="0">
            <a:spAutoFit/>
          </a:bodyPr>
          <a:lstStyle/>
          <a:p>
            <a:pPr algn="l">
              <a:lnSpc>
                <a:spcPct val="125000"/>
              </a:lnSpc>
              <a:spcAft>
                <a:spcPts val="0"/>
              </a:spcAft>
            </a:pPr>
            <a:r>
              <a:rPr sz="1100" b="0" i="0">
                <a:solidFill>
                  <a:srgbClr val="7A5B15"/>
                </a:solidFill>
                <a:latin typeface="Arial"/>
              </a:rPr>
              <a:t>Please note: session validity periods are strictly observed. Sessions not used within the validity window are forfeited — choose a package that matches your actual timeline.</a:t>
            </a:r>
          </a:p>
        </p:txBody>
      </p:sp>
      <p:sp>
        <p:nvSpPr>
          <p:cNvPr id="10" name="TextBox 9"/>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Rounded Rectangle 2"/>
          <p:cNvSpPr/>
          <p:nvPr/>
        </p:nvSpPr>
        <p:spPr>
          <a:xfrm>
            <a:off x="640080" y="457200"/>
            <a:ext cx="10881360" cy="914400"/>
          </a:xfrm>
          <a:prstGeom prst="roundRect">
            <a:avLst>
              <a:gd name="adj" fmla="val 4000"/>
            </a:avLst>
          </a:prstGeom>
          <a:solidFill>
            <a:srgbClr val="16283F"/>
          </a:solidFill>
          <a:ln>
            <a:noFill/>
          </a:ln>
          <a:effectLst/>
        </p:spPr>
        <p:txBody>
          <a:bodyPr rtlCol="0" anchor="ctr"/>
          <a:lstStyle/>
          <a:p>
            <a:pPr algn="ctr"/>
          </a:p>
        </p:txBody>
      </p:sp>
      <p:sp>
        <p:nvSpPr>
          <p:cNvPr id="4" name="TextBox 3"/>
          <p:cNvSpPr txBox="1"/>
          <p:nvPr/>
        </p:nvSpPr>
        <p:spPr>
          <a:xfrm>
            <a:off x="914400" y="566928"/>
            <a:ext cx="9144000" cy="274320"/>
          </a:xfrm>
          <a:prstGeom prst="rect">
            <a:avLst/>
          </a:prstGeom>
          <a:noFill/>
        </p:spPr>
        <p:txBody>
          <a:bodyPr wrap="square" anchor="t" lIns="0" rIns="0" tIns="0" bIns="0">
            <a:spAutoFit/>
          </a:bodyPr>
          <a:lstStyle/>
          <a:p>
            <a:pPr algn="l">
              <a:lnSpc>
                <a:spcPct val="115000"/>
              </a:lnSpc>
              <a:spcAft>
                <a:spcPts val="0"/>
              </a:spcAft>
            </a:pPr>
            <a:r>
              <a:rPr sz="1100" b="1" i="0" spc="120">
                <a:solidFill>
                  <a:srgbClr val="6BB6EE"/>
                </a:solidFill>
                <a:latin typeface="Arial"/>
              </a:rPr>
              <a:t>SERVICE 02</a:t>
            </a:r>
          </a:p>
        </p:txBody>
      </p:sp>
      <p:sp>
        <p:nvSpPr>
          <p:cNvPr id="5" name="TextBox 4"/>
          <p:cNvSpPr txBox="1"/>
          <p:nvPr/>
        </p:nvSpPr>
        <p:spPr>
          <a:xfrm>
            <a:off x="914400" y="841248"/>
            <a:ext cx="9144000" cy="457200"/>
          </a:xfrm>
          <a:prstGeom prst="rect">
            <a:avLst/>
          </a:prstGeom>
          <a:noFill/>
        </p:spPr>
        <p:txBody>
          <a:bodyPr wrap="square" anchor="t" lIns="0" rIns="0" tIns="0" bIns="0">
            <a:spAutoFit/>
          </a:bodyPr>
          <a:lstStyle/>
          <a:p>
            <a:pPr algn="l">
              <a:lnSpc>
                <a:spcPct val="115000"/>
              </a:lnSpc>
              <a:spcAft>
                <a:spcPts val="0"/>
              </a:spcAft>
            </a:pPr>
            <a:r>
              <a:rPr sz="1500" b="1" i="0">
                <a:solidFill>
                  <a:srgbClr val="FFFFFF"/>
                </a:solidFill>
                <a:latin typeface="Arial"/>
              </a:rPr>
              <a:t>Document Review — detailed written feedback with no live session required</a:t>
            </a:r>
          </a:p>
        </p:txBody>
      </p:sp>
      <p:sp>
        <p:nvSpPr>
          <p:cNvPr id="6" name="TextBox 5"/>
          <p:cNvSpPr txBox="1"/>
          <p:nvPr/>
        </p:nvSpPr>
        <p:spPr>
          <a:xfrm>
            <a:off x="640080" y="1554480"/>
            <a:ext cx="10881360" cy="777240"/>
          </a:xfrm>
          <a:prstGeom prst="rect">
            <a:avLst/>
          </a:prstGeom>
          <a:noFill/>
        </p:spPr>
        <p:txBody>
          <a:bodyPr wrap="square" anchor="t" lIns="0" rIns="0" tIns="0" bIns="0">
            <a:spAutoFit/>
          </a:bodyPr>
          <a:lstStyle/>
          <a:p>
            <a:pPr algn="l">
              <a:lnSpc>
                <a:spcPct val="130000"/>
              </a:lnSpc>
              <a:spcAft>
                <a:spcPts val="0"/>
              </a:spcAft>
            </a:pPr>
            <a:r>
              <a:rPr sz="1250" b="0" i="0">
                <a:solidFill>
                  <a:srgbClr val="3E4E60"/>
                </a:solidFill>
                <a:latin typeface="Arial"/>
              </a:rPr>
              <a:t>Once you submit your documents, they are reviewed by a mentor who has gone through the same process. Within 7 working days you receive detailed, thoughtful feedback and clear direction on how to strengthen your next draft.</a:t>
            </a:r>
          </a:p>
        </p:txBody>
      </p:sp>
      <p:sp>
        <p:nvSpPr>
          <p:cNvPr id="7" name="Rounded Rectangle 6"/>
          <p:cNvSpPr/>
          <p:nvPr/>
        </p:nvSpPr>
        <p:spPr>
          <a:xfrm>
            <a:off x="640080" y="2468880"/>
            <a:ext cx="10881360" cy="1051560"/>
          </a:xfrm>
          <a:prstGeom prst="roundRect">
            <a:avLst>
              <a:gd name="adj" fmla="val 5000"/>
            </a:avLst>
          </a:prstGeom>
          <a:solidFill>
            <a:srgbClr val="FFFFFF"/>
          </a:solidFill>
          <a:ln w="12700">
            <a:solidFill>
              <a:srgbClr val="DCE5EE"/>
            </a:solidFill>
          </a:ln>
          <a:effectLst/>
        </p:spPr>
        <p:txBody>
          <a:bodyPr rtlCol="0" anchor="ctr"/>
          <a:lstStyle/>
          <a:p>
            <a:pPr algn="ctr"/>
          </a:p>
        </p:txBody>
      </p:sp>
      <p:sp>
        <p:nvSpPr>
          <p:cNvPr id="8" name="TextBox 7"/>
          <p:cNvSpPr txBox="1"/>
          <p:nvPr/>
        </p:nvSpPr>
        <p:spPr>
          <a:xfrm>
            <a:off x="914400" y="2606040"/>
            <a:ext cx="7772400"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283F"/>
                </a:solidFill>
                <a:latin typeface="Arial"/>
              </a:rPr>
              <a:t>CV and Statement of Purpose or Personal Essay</a:t>
            </a:r>
          </a:p>
        </p:txBody>
      </p:sp>
      <p:sp>
        <p:nvSpPr>
          <p:cNvPr id="9" name="TextBox 8"/>
          <p:cNvSpPr txBox="1"/>
          <p:nvPr/>
        </p:nvSpPr>
        <p:spPr>
          <a:xfrm>
            <a:off x="9509760" y="2587752"/>
            <a:ext cx="1828800" cy="457200"/>
          </a:xfrm>
          <a:prstGeom prst="rect">
            <a:avLst/>
          </a:prstGeom>
          <a:noFill/>
        </p:spPr>
        <p:txBody>
          <a:bodyPr wrap="square" anchor="t" lIns="0" rIns="0" tIns="0" bIns="0">
            <a:spAutoFit/>
          </a:bodyPr>
          <a:lstStyle/>
          <a:p>
            <a:pPr algn="r">
              <a:lnSpc>
                <a:spcPct val="115000"/>
              </a:lnSpc>
              <a:spcAft>
                <a:spcPts val="0"/>
              </a:spcAft>
            </a:pPr>
            <a:r>
              <a:rPr sz="1900" b="1" i="0">
                <a:solidFill>
                  <a:srgbClr val="16283F"/>
                </a:solidFill>
                <a:latin typeface="Arial"/>
              </a:rPr>
              <a:t>£49.99</a:t>
            </a:r>
          </a:p>
        </p:txBody>
      </p:sp>
      <p:sp>
        <p:nvSpPr>
          <p:cNvPr id="10" name="TextBox 9"/>
          <p:cNvSpPr txBox="1"/>
          <p:nvPr/>
        </p:nvSpPr>
        <p:spPr>
          <a:xfrm>
            <a:off x="914400" y="2971800"/>
            <a:ext cx="9509760" cy="320040"/>
          </a:xfrm>
          <a:prstGeom prst="rect">
            <a:avLst/>
          </a:prstGeom>
          <a:noFill/>
        </p:spPr>
        <p:txBody>
          <a:bodyPr wrap="square" anchor="t" lIns="0" rIns="0" tIns="0" bIns="0">
            <a:spAutoFit/>
          </a:bodyPr>
          <a:lstStyle/>
          <a:p>
            <a:pPr algn="l">
              <a:lnSpc>
                <a:spcPct val="115000"/>
              </a:lnSpc>
              <a:spcAft>
                <a:spcPts val="0"/>
              </a:spcAft>
            </a:pPr>
            <a:r>
              <a:rPr sz="1100" b="0" i="0">
                <a:solidFill>
                  <a:srgbClr val="55677C"/>
                </a:solidFill>
                <a:latin typeface="Arial"/>
              </a:rPr>
              <a:t>Both documents reviewed together — structure, content, and how well they speak to your target programme.</a:t>
            </a:r>
          </a:p>
        </p:txBody>
      </p:sp>
      <p:sp>
        <p:nvSpPr>
          <p:cNvPr id="11" name="TextBox 10"/>
          <p:cNvSpPr txBox="1"/>
          <p:nvPr/>
        </p:nvSpPr>
        <p:spPr>
          <a:xfrm>
            <a:off x="914400" y="3273552"/>
            <a:ext cx="5486400" cy="274320"/>
          </a:xfrm>
          <a:prstGeom prst="rect">
            <a:avLst/>
          </a:prstGeom>
          <a:noFill/>
        </p:spPr>
        <p:txBody>
          <a:bodyPr wrap="square" anchor="t" lIns="0" rIns="0" tIns="0" bIns="0">
            <a:spAutoFit/>
          </a:bodyPr>
          <a:lstStyle/>
          <a:p>
            <a:pPr algn="l">
              <a:lnSpc>
                <a:spcPct val="115000"/>
              </a:lnSpc>
              <a:spcAft>
                <a:spcPts val="0"/>
              </a:spcAft>
            </a:pPr>
            <a:r>
              <a:rPr sz="1100" b="0" i="0">
                <a:solidFill>
                  <a:srgbClr val="2D7FBF"/>
                </a:solidFill>
                <a:latin typeface="Arial"/>
              </a:rPr>
              <a:t>Returned within 7 working days</a:t>
            </a:r>
          </a:p>
        </p:txBody>
      </p:sp>
      <p:sp>
        <p:nvSpPr>
          <p:cNvPr id="12" name="TextBox 11"/>
          <p:cNvSpPr txBox="1"/>
          <p:nvPr/>
        </p:nvSpPr>
        <p:spPr>
          <a:xfrm>
            <a:off x="640080" y="3794760"/>
            <a:ext cx="10058400" cy="274320"/>
          </a:xfrm>
          <a:prstGeom prst="rect">
            <a:avLst/>
          </a:prstGeom>
          <a:noFill/>
        </p:spPr>
        <p:txBody>
          <a:bodyPr wrap="square" anchor="t" lIns="0" rIns="0" tIns="0" bIns="0">
            <a:spAutoFit/>
          </a:bodyPr>
          <a:lstStyle/>
          <a:p>
            <a:pPr algn="l">
              <a:lnSpc>
                <a:spcPct val="115000"/>
              </a:lnSpc>
              <a:spcAft>
                <a:spcPts val="0"/>
              </a:spcAft>
            </a:pPr>
            <a:r>
              <a:rPr sz="1100" b="1" i="0" spc="80">
                <a:solidFill>
                  <a:srgbClr val="8FA2B8"/>
                </a:solidFill>
                <a:latin typeface="Arial"/>
              </a:rPr>
              <a:t>SCHOLARSHIP, WRITING SAMPLE AND RESEARCH PROPOSAL REVIEW</a:t>
            </a:r>
          </a:p>
        </p:txBody>
      </p:sp>
      <p:sp>
        <p:nvSpPr>
          <p:cNvPr id="13" name="TextBox 12"/>
          <p:cNvSpPr txBox="1"/>
          <p:nvPr/>
        </p:nvSpPr>
        <p:spPr>
          <a:xfrm>
            <a:off x="640080" y="4096512"/>
            <a:ext cx="10881360" cy="594360"/>
          </a:xfrm>
          <a:prstGeom prst="rect">
            <a:avLst/>
          </a:prstGeom>
          <a:noFill/>
        </p:spPr>
        <p:txBody>
          <a:bodyPr wrap="square" anchor="t" lIns="0" rIns="0" tIns="0" bIns="0">
            <a:spAutoFit/>
          </a:bodyPr>
          <a:lstStyle/>
          <a:p>
            <a:pPr algn="l">
              <a:lnSpc>
                <a:spcPct val="125000"/>
              </a:lnSpc>
              <a:spcAft>
                <a:spcPts val="0"/>
              </a:spcAft>
            </a:pPr>
            <a:r>
              <a:rPr sz="1200" b="0" i="0">
                <a:solidFill>
                  <a:srgbClr val="3E4E60"/>
                </a:solidFill>
                <a:latin typeface="Arial"/>
              </a:rPr>
              <a:t>For major scholarship applications, your reviewer brings first-hand experience of the award itself — a nuanced understanding of selection criteria and common pitfalls.</a:t>
            </a:r>
          </a:p>
        </p:txBody>
      </p:sp>
      <p:sp>
        <p:nvSpPr>
          <p:cNvPr id="14" name="Rounded Rectangle 13"/>
          <p:cNvSpPr/>
          <p:nvPr/>
        </p:nvSpPr>
        <p:spPr>
          <a:xfrm>
            <a:off x="640080" y="4754880"/>
            <a:ext cx="916228"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Chevening</a:t>
            </a:r>
          </a:p>
        </p:txBody>
      </p:sp>
      <p:sp>
        <p:nvSpPr>
          <p:cNvPr id="15" name="Rounded Rectangle 14"/>
          <p:cNvSpPr/>
          <p:nvPr/>
        </p:nvSpPr>
        <p:spPr>
          <a:xfrm>
            <a:off x="1840992" y="4754880"/>
            <a:ext cx="1344168"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Gates Cambridge</a:t>
            </a:r>
          </a:p>
        </p:txBody>
      </p:sp>
      <p:sp>
        <p:nvSpPr>
          <p:cNvPr id="16" name="Rounded Rectangle 15"/>
          <p:cNvSpPr/>
          <p:nvPr/>
        </p:nvSpPr>
        <p:spPr>
          <a:xfrm>
            <a:off x="3469843" y="4754880"/>
            <a:ext cx="1130198"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Commonwealth</a:t>
            </a:r>
          </a:p>
        </p:txBody>
      </p:sp>
      <p:sp>
        <p:nvSpPr>
          <p:cNvPr id="17" name="Rounded Rectangle 16"/>
          <p:cNvSpPr/>
          <p:nvPr/>
        </p:nvSpPr>
        <p:spPr>
          <a:xfrm>
            <a:off x="4884724" y="4754880"/>
            <a:ext cx="822960"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Rhodes</a:t>
            </a:r>
          </a:p>
        </p:txBody>
      </p:sp>
      <p:sp>
        <p:nvSpPr>
          <p:cNvPr id="18" name="Rounded Rectangle 17"/>
          <p:cNvSpPr/>
          <p:nvPr/>
        </p:nvSpPr>
        <p:spPr>
          <a:xfrm>
            <a:off x="5992368" y="4754880"/>
            <a:ext cx="2200046"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Fulbright &amp; Fulbright Nehru</a:t>
            </a:r>
          </a:p>
        </p:txBody>
      </p:sp>
      <p:sp>
        <p:nvSpPr>
          <p:cNvPr id="19" name="Rounded Rectangle 18"/>
          <p:cNvSpPr/>
          <p:nvPr/>
        </p:nvSpPr>
        <p:spPr>
          <a:xfrm>
            <a:off x="8477097" y="4754880"/>
            <a:ext cx="1486814"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Inlaks Foundation</a:t>
            </a:r>
          </a:p>
        </p:txBody>
      </p:sp>
      <p:sp>
        <p:nvSpPr>
          <p:cNvPr id="20" name="Rounded Rectangle 19"/>
          <p:cNvSpPr/>
          <p:nvPr/>
        </p:nvSpPr>
        <p:spPr>
          <a:xfrm>
            <a:off x="10248595" y="4754880"/>
            <a:ext cx="1272844"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Erasmus Mundus</a:t>
            </a:r>
          </a:p>
        </p:txBody>
      </p:sp>
      <p:sp>
        <p:nvSpPr>
          <p:cNvPr id="21" name="Rounded Rectangle 20"/>
          <p:cNvSpPr/>
          <p:nvPr/>
        </p:nvSpPr>
        <p:spPr>
          <a:xfrm>
            <a:off x="640080" y="5212080"/>
            <a:ext cx="1629460"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Weidenfeld Hoffmann</a:t>
            </a:r>
          </a:p>
        </p:txBody>
      </p:sp>
      <p:sp>
        <p:nvSpPr>
          <p:cNvPr id="22" name="Rounded Rectangle 21"/>
          <p:cNvSpPr/>
          <p:nvPr/>
        </p:nvSpPr>
        <p:spPr>
          <a:xfrm>
            <a:off x="2379268" y="5212080"/>
            <a:ext cx="1772107"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Mastercard Foundation</a:t>
            </a:r>
          </a:p>
        </p:txBody>
      </p:sp>
      <p:sp>
        <p:nvSpPr>
          <p:cNvPr id="23" name="Rounded Rectangle 22"/>
          <p:cNvSpPr/>
          <p:nvPr/>
        </p:nvSpPr>
        <p:spPr>
          <a:xfrm>
            <a:off x="4261104" y="5212080"/>
            <a:ext cx="1914753"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University scholarships</a:t>
            </a:r>
          </a:p>
        </p:txBody>
      </p:sp>
      <p:sp>
        <p:nvSpPr>
          <p:cNvPr id="24" name="Rounded Rectangle 23"/>
          <p:cNvSpPr/>
          <p:nvPr/>
        </p:nvSpPr>
        <p:spPr>
          <a:xfrm>
            <a:off x="6285585" y="5212080"/>
            <a:ext cx="1772107"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PhD research proposal</a:t>
            </a:r>
          </a:p>
        </p:txBody>
      </p:sp>
      <p:sp>
        <p:nvSpPr>
          <p:cNvPr id="25" name="Rounded Rectangle 24"/>
          <p:cNvSpPr/>
          <p:nvPr/>
        </p:nvSpPr>
        <p:spPr>
          <a:xfrm>
            <a:off x="8167420" y="5212080"/>
            <a:ext cx="1272844" cy="347472"/>
          </a:xfrm>
          <a:prstGeom prst="roundRect">
            <a:avLst>
              <a:gd name="adj" fmla="val 50000"/>
            </a:avLst>
          </a:prstGeom>
          <a:solidFill>
            <a:srgbClr val="FFFFFF"/>
          </a:solidFill>
          <a:ln w="12700">
            <a:solidFill>
              <a:srgbClr val="BFD9EE"/>
            </a:solidFill>
          </a:ln>
          <a:effectLst/>
        </p:spPr>
        <p:txBody>
          <a:bodyPr rtlCol="0" anchor="ctr" wrap="none" lIns="0" rIns="0" tIns="0" bIns="0"/>
          <a:lstStyle/>
          <a:p>
            <a:pPr algn="ctr"/>
            <a:r>
              <a:rPr sz="1100" b="0">
                <a:solidFill>
                  <a:srgbClr val="2D7FBF"/>
                </a:solidFill>
                <a:latin typeface="Arial"/>
              </a:rPr>
              <a:t>Writing sample</a:t>
            </a:r>
          </a:p>
        </p:txBody>
      </p:sp>
      <p:sp>
        <p:nvSpPr>
          <p:cNvPr id="26" name="Rounded Rectangle 25"/>
          <p:cNvSpPr/>
          <p:nvPr/>
        </p:nvSpPr>
        <p:spPr>
          <a:xfrm>
            <a:off x="640080" y="5806440"/>
            <a:ext cx="10881360" cy="777240"/>
          </a:xfrm>
          <a:prstGeom prst="roundRect">
            <a:avLst>
              <a:gd name="adj" fmla="val 5000"/>
            </a:avLst>
          </a:prstGeom>
          <a:solidFill>
            <a:srgbClr val="EAF3FB"/>
          </a:solidFill>
          <a:ln>
            <a:noFill/>
          </a:ln>
          <a:effectLst/>
        </p:spPr>
        <p:txBody>
          <a:bodyPr rtlCol="0" anchor="ctr"/>
          <a:lstStyle/>
          <a:p>
            <a:pPr algn="ctr"/>
          </a:p>
        </p:txBody>
      </p:sp>
      <p:sp>
        <p:nvSpPr>
          <p:cNvPr id="27" name="TextBox 26"/>
          <p:cNvSpPr txBox="1"/>
          <p:nvPr/>
        </p:nvSpPr>
        <p:spPr>
          <a:xfrm>
            <a:off x="914400" y="5888736"/>
            <a:ext cx="10332720" cy="320040"/>
          </a:xfrm>
          <a:prstGeom prst="rect">
            <a:avLst/>
          </a:prstGeom>
          <a:noFill/>
        </p:spPr>
        <p:txBody>
          <a:bodyPr wrap="square" anchor="t" lIns="0" rIns="0" tIns="0" bIns="0">
            <a:spAutoFit/>
          </a:bodyPr>
          <a:lstStyle/>
          <a:p>
            <a:pPr algn="l">
              <a:lnSpc>
                <a:spcPct val="115000"/>
              </a:lnSpc>
              <a:spcAft>
                <a:spcPts val="0"/>
              </a:spcAft>
            </a:pPr>
            <a:r>
              <a:rPr sz="1250" b="1" i="0">
                <a:solidFill>
                  <a:srgbClr val="16283F"/>
                </a:solidFill>
                <a:latin typeface="Arial"/>
              </a:rPr>
              <a:t>Pricing depends on the scholarship and the number of essays involved.</a:t>
            </a:r>
          </a:p>
        </p:txBody>
      </p:sp>
      <p:sp>
        <p:nvSpPr>
          <p:cNvPr id="28" name="TextBox 27"/>
          <p:cNvSpPr txBox="1"/>
          <p:nvPr/>
        </p:nvSpPr>
        <p:spPr>
          <a:xfrm>
            <a:off x="914400" y="6172200"/>
            <a:ext cx="10332720" cy="365760"/>
          </a:xfrm>
          <a:prstGeom prst="rect">
            <a:avLst/>
          </a:prstGeom>
          <a:noFill/>
        </p:spPr>
        <p:txBody>
          <a:bodyPr wrap="square" anchor="t" lIns="0" rIns="0" tIns="0" bIns="0">
            <a:spAutoFit/>
          </a:bodyPr>
          <a:lstStyle/>
          <a:p>
            <a:pPr algn="l">
              <a:lnSpc>
                <a:spcPct val="115000"/>
              </a:lnSpc>
              <a:spcAft>
                <a:spcPts val="0"/>
              </a:spcAft>
            </a:pPr>
            <a:r>
              <a:rPr sz="1100" b="0" i="0">
                <a:solidFill>
                  <a:srgbClr val="3E4E60"/>
                </a:solidFill>
                <a:latin typeface="Arial"/>
              </a:rPr>
              <a:t>Write to us at info@theapplicationlab.com with the name of your scholarship, and we will confirm the cost.</a:t>
            </a:r>
          </a:p>
        </p:txBody>
      </p:sp>
      <p:sp>
        <p:nvSpPr>
          <p:cNvPr id="29" name="TextBox 28"/>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txBody>
          <a:bodyPr rtlCol="0" anchor="ctr"/>
          <a:lstStyle/>
          <a:p>
            <a:pPr algn="ctr"/>
          </a:p>
        </p:txBody>
      </p:sp>
      <p:sp>
        <p:nvSpPr>
          <p:cNvPr id="3" name="TextBox 2"/>
          <p:cNvSpPr txBox="1"/>
          <p:nvPr/>
        </p:nvSpPr>
        <p:spPr>
          <a:xfrm>
            <a:off x="640080" y="457200"/>
            <a:ext cx="10881360" cy="320040"/>
          </a:xfrm>
          <a:prstGeom prst="rect">
            <a:avLst/>
          </a:prstGeom>
          <a:noFill/>
        </p:spPr>
        <p:txBody>
          <a:bodyPr wrap="square" anchor="t" lIns="0" rIns="0" tIns="0" bIns="0">
            <a:spAutoFit/>
          </a:bodyPr>
          <a:lstStyle/>
          <a:p>
            <a:pPr algn="l">
              <a:lnSpc>
                <a:spcPct val="115000"/>
              </a:lnSpc>
              <a:spcAft>
                <a:spcPts val="0"/>
              </a:spcAft>
            </a:pPr>
            <a:r>
              <a:rPr sz="1250" b="1" i="0" spc="140">
                <a:solidFill>
                  <a:srgbClr val="2D7FBF"/>
                </a:solidFill>
                <a:latin typeface="Arial"/>
              </a:rPr>
              <a:t>OUR PROMISE</a:t>
            </a:r>
          </a:p>
        </p:txBody>
      </p:sp>
      <p:sp>
        <p:nvSpPr>
          <p:cNvPr id="4" name="TextBox 3"/>
          <p:cNvSpPr txBox="1"/>
          <p:nvPr/>
        </p:nvSpPr>
        <p:spPr>
          <a:xfrm>
            <a:off x="640080" y="822960"/>
            <a:ext cx="10881360" cy="822960"/>
          </a:xfrm>
          <a:prstGeom prst="rect">
            <a:avLst/>
          </a:prstGeom>
          <a:noFill/>
        </p:spPr>
        <p:txBody>
          <a:bodyPr wrap="square" anchor="t" lIns="0" rIns="0" tIns="0" bIns="0">
            <a:spAutoFit/>
          </a:bodyPr>
          <a:lstStyle/>
          <a:p>
            <a:pPr algn="l">
              <a:lnSpc>
                <a:spcPct val="105000"/>
              </a:lnSpc>
              <a:spcAft>
                <a:spcPts val="0"/>
              </a:spcAft>
            </a:pPr>
            <a:r>
              <a:rPr sz="3000" b="1" i="0">
                <a:solidFill>
                  <a:srgbClr val="16283F"/>
                </a:solidFill>
                <a:latin typeface="Arial"/>
              </a:rPr>
              <a:t>What you can expect from every TAL mentor.</a:t>
            </a:r>
          </a:p>
        </p:txBody>
      </p:sp>
      <p:sp>
        <p:nvSpPr>
          <p:cNvPr id="5" name="Rectangle 4"/>
          <p:cNvSpPr/>
          <p:nvPr/>
        </p:nvSpPr>
        <p:spPr>
          <a:xfrm>
            <a:off x="640080" y="1627632"/>
            <a:ext cx="457200" cy="41148"/>
          </a:xfrm>
          <a:prstGeom prst="rect">
            <a:avLst/>
          </a:prstGeom>
          <a:solidFill>
            <a:srgbClr val="2D7FBF"/>
          </a:solidFill>
          <a:ln>
            <a:noFill/>
          </a:ln>
          <a:effectLst/>
        </p:spPr>
        <p:txBody>
          <a:bodyPr rtlCol="0" anchor="ctr"/>
          <a:lstStyle/>
          <a:p>
            <a:pPr algn="ctr"/>
          </a:p>
        </p:txBody>
      </p:sp>
      <p:sp>
        <p:nvSpPr>
          <p:cNvPr id="6" name="Rounded Rectangle 5"/>
          <p:cNvSpPr/>
          <p:nvPr/>
        </p:nvSpPr>
        <p:spPr>
          <a:xfrm>
            <a:off x="640080" y="1965960"/>
            <a:ext cx="5257800" cy="1783080"/>
          </a:xfrm>
          <a:prstGeom prst="roundRect">
            <a:avLst>
              <a:gd name="adj" fmla="val 3000"/>
            </a:avLst>
          </a:prstGeom>
          <a:solidFill>
            <a:srgbClr val="FFFFFF"/>
          </a:solidFill>
          <a:ln w="12700">
            <a:solidFill>
              <a:srgbClr val="DCE5EE"/>
            </a:solidFill>
          </a:ln>
          <a:effectLst/>
        </p:spPr>
        <p:txBody>
          <a:bodyPr rtlCol="0" anchor="ctr"/>
          <a:lstStyle/>
          <a:p>
            <a:pPr algn="ctr"/>
          </a:p>
        </p:txBody>
      </p:sp>
      <p:sp>
        <p:nvSpPr>
          <p:cNvPr id="7" name="Rectangle 6"/>
          <p:cNvSpPr/>
          <p:nvPr/>
        </p:nvSpPr>
        <p:spPr>
          <a:xfrm>
            <a:off x="640080" y="1965960"/>
            <a:ext cx="5257800" cy="45720"/>
          </a:xfrm>
          <a:prstGeom prst="rect">
            <a:avLst/>
          </a:prstGeom>
          <a:solidFill>
            <a:srgbClr val="2D7FBF"/>
          </a:solidFill>
          <a:ln>
            <a:noFill/>
          </a:ln>
          <a:effectLst/>
        </p:spPr>
        <p:txBody>
          <a:bodyPr rtlCol="0" anchor="ctr"/>
          <a:lstStyle/>
          <a:p>
            <a:pPr algn="ctr"/>
          </a:p>
        </p:txBody>
      </p:sp>
      <p:sp>
        <p:nvSpPr>
          <p:cNvPr id="8" name="Oval 7"/>
          <p:cNvSpPr/>
          <p:nvPr/>
        </p:nvSpPr>
        <p:spPr>
          <a:xfrm>
            <a:off x="896112" y="2194560"/>
            <a:ext cx="384048" cy="384048"/>
          </a:xfrm>
          <a:prstGeom prst="ellipse">
            <a:avLst/>
          </a:prstGeom>
          <a:solidFill>
            <a:srgbClr val="16283F"/>
          </a:solidFill>
          <a:ln>
            <a:noFill/>
          </a:ln>
          <a:effectLst/>
        </p:spPr>
        <p:txBody>
          <a:bodyPr rtlCol="0" anchor="ctr"/>
          <a:lstStyle/>
          <a:p>
            <a:pPr algn="ctr"/>
          </a:p>
        </p:txBody>
      </p:sp>
      <p:sp>
        <p:nvSpPr>
          <p:cNvPr id="9" name="TextBox 8"/>
          <p:cNvSpPr txBox="1"/>
          <p:nvPr/>
        </p:nvSpPr>
        <p:spPr>
          <a:xfrm>
            <a:off x="896112" y="2194560"/>
            <a:ext cx="384048" cy="384048"/>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Arial"/>
              </a:rPr>
              <a:t>1</a:t>
            </a:r>
          </a:p>
        </p:txBody>
      </p:sp>
      <p:sp>
        <p:nvSpPr>
          <p:cNvPr id="10" name="TextBox 9"/>
          <p:cNvSpPr txBox="1"/>
          <p:nvPr/>
        </p:nvSpPr>
        <p:spPr>
          <a:xfrm>
            <a:off x="896112" y="2697480"/>
            <a:ext cx="4745736"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283F"/>
                </a:solidFill>
                <a:latin typeface="Arial"/>
              </a:rPr>
              <a:t>They have been where you are</a:t>
            </a:r>
          </a:p>
        </p:txBody>
      </p:sp>
      <p:sp>
        <p:nvSpPr>
          <p:cNvPr id="11" name="TextBox 10"/>
          <p:cNvSpPr txBox="1"/>
          <p:nvPr/>
        </p:nvSpPr>
        <p:spPr>
          <a:xfrm>
            <a:off x="896112" y="3081528"/>
            <a:ext cx="4745736" cy="594359"/>
          </a:xfrm>
          <a:prstGeom prst="rect">
            <a:avLst/>
          </a:prstGeom>
          <a:noFill/>
        </p:spPr>
        <p:txBody>
          <a:bodyPr wrap="square" anchor="t" lIns="0" rIns="0" tIns="0" bIns="0">
            <a:spAutoFit/>
          </a:bodyPr>
          <a:lstStyle/>
          <a:p>
            <a:pPr algn="l">
              <a:lnSpc>
                <a:spcPct val="125000"/>
              </a:lnSpc>
              <a:spcAft>
                <a:spcPts val="0"/>
              </a:spcAft>
            </a:pPr>
            <a:r>
              <a:rPr sz="1100" b="0" i="0">
                <a:solidFill>
                  <a:srgbClr val="55677C"/>
                </a:solidFill>
                <a:latin typeface="Arial"/>
              </a:rPr>
              <a:t>Our mentors have navigated similar applications, often to the same scholarships and institutions, with journeys that closely reflect your own.</a:t>
            </a:r>
          </a:p>
        </p:txBody>
      </p:sp>
      <p:sp>
        <p:nvSpPr>
          <p:cNvPr id="12" name="Rounded Rectangle 11"/>
          <p:cNvSpPr/>
          <p:nvPr/>
        </p:nvSpPr>
        <p:spPr>
          <a:xfrm>
            <a:off x="6263640" y="1965960"/>
            <a:ext cx="5257800" cy="1783080"/>
          </a:xfrm>
          <a:prstGeom prst="roundRect">
            <a:avLst>
              <a:gd name="adj" fmla="val 3000"/>
            </a:avLst>
          </a:prstGeom>
          <a:solidFill>
            <a:srgbClr val="FFFFFF"/>
          </a:solidFill>
          <a:ln w="12700">
            <a:solidFill>
              <a:srgbClr val="DCE5EE"/>
            </a:solidFill>
          </a:ln>
          <a:effectLst/>
        </p:spPr>
        <p:txBody>
          <a:bodyPr rtlCol="0" anchor="ctr"/>
          <a:lstStyle/>
          <a:p>
            <a:pPr algn="ctr"/>
          </a:p>
        </p:txBody>
      </p:sp>
      <p:sp>
        <p:nvSpPr>
          <p:cNvPr id="13" name="Rectangle 12"/>
          <p:cNvSpPr/>
          <p:nvPr/>
        </p:nvSpPr>
        <p:spPr>
          <a:xfrm>
            <a:off x="6263640" y="1965960"/>
            <a:ext cx="5257800" cy="45720"/>
          </a:xfrm>
          <a:prstGeom prst="rect">
            <a:avLst/>
          </a:prstGeom>
          <a:solidFill>
            <a:srgbClr val="2D7FBF"/>
          </a:solidFill>
          <a:ln>
            <a:noFill/>
          </a:ln>
          <a:effectLst/>
        </p:spPr>
        <p:txBody>
          <a:bodyPr rtlCol="0" anchor="ctr"/>
          <a:lstStyle/>
          <a:p>
            <a:pPr algn="ctr"/>
          </a:p>
        </p:txBody>
      </p:sp>
      <p:sp>
        <p:nvSpPr>
          <p:cNvPr id="14" name="Oval 13"/>
          <p:cNvSpPr/>
          <p:nvPr/>
        </p:nvSpPr>
        <p:spPr>
          <a:xfrm>
            <a:off x="6519672" y="2194560"/>
            <a:ext cx="384048" cy="384048"/>
          </a:xfrm>
          <a:prstGeom prst="ellipse">
            <a:avLst/>
          </a:prstGeom>
          <a:solidFill>
            <a:srgbClr val="16283F"/>
          </a:solidFill>
          <a:ln>
            <a:noFill/>
          </a:ln>
          <a:effectLst/>
        </p:spPr>
        <p:txBody>
          <a:bodyPr rtlCol="0" anchor="ctr"/>
          <a:lstStyle/>
          <a:p>
            <a:pPr algn="ctr"/>
          </a:p>
        </p:txBody>
      </p:sp>
      <p:sp>
        <p:nvSpPr>
          <p:cNvPr id="15" name="TextBox 14"/>
          <p:cNvSpPr txBox="1"/>
          <p:nvPr/>
        </p:nvSpPr>
        <p:spPr>
          <a:xfrm>
            <a:off x="6519672" y="2194560"/>
            <a:ext cx="384048" cy="384048"/>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Arial"/>
              </a:rPr>
              <a:t>2</a:t>
            </a:r>
          </a:p>
        </p:txBody>
      </p:sp>
      <p:sp>
        <p:nvSpPr>
          <p:cNvPr id="16" name="TextBox 15"/>
          <p:cNvSpPr txBox="1"/>
          <p:nvPr/>
        </p:nvSpPr>
        <p:spPr>
          <a:xfrm>
            <a:off x="6519672" y="2697480"/>
            <a:ext cx="4745736"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283F"/>
                </a:solidFill>
                <a:latin typeface="Arial"/>
              </a:rPr>
              <a:t>Honest, not just encouraging</a:t>
            </a:r>
          </a:p>
        </p:txBody>
      </p:sp>
      <p:sp>
        <p:nvSpPr>
          <p:cNvPr id="17" name="TextBox 16"/>
          <p:cNvSpPr txBox="1"/>
          <p:nvPr/>
        </p:nvSpPr>
        <p:spPr>
          <a:xfrm>
            <a:off x="6519672" y="3081528"/>
            <a:ext cx="4745736" cy="594359"/>
          </a:xfrm>
          <a:prstGeom prst="rect">
            <a:avLst/>
          </a:prstGeom>
          <a:noFill/>
        </p:spPr>
        <p:txBody>
          <a:bodyPr wrap="square" anchor="t" lIns="0" rIns="0" tIns="0" bIns="0">
            <a:spAutoFit/>
          </a:bodyPr>
          <a:lstStyle/>
          <a:p>
            <a:pPr algn="l">
              <a:lnSpc>
                <a:spcPct val="125000"/>
              </a:lnSpc>
              <a:spcAft>
                <a:spcPts val="0"/>
              </a:spcAft>
            </a:pPr>
            <a:r>
              <a:rPr sz="1100" b="0" i="0">
                <a:solidFill>
                  <a:srgbClr val="55677C"/>
                </a:solidFill>
                <a:latin typeface="Arial"/>
              </a:rPr>
              <a:t>TAL mentors will tell you what actually needs to change, not just what sounds good. The most useful feedback is not always the most comfortable.</a:t>
            </a:r>
          </a:p>
        </p:txBody>
      </p:sp>
      <p:sp>
        <p:nvSpPr>
          <p:cNvPr id="18" name="Rounded Rectangle 17"/>
          <p:cNvSpPr/>
          <p:nvPr/>
        </p:nvSpPr>
        <p:spPr>
          <a:xfrm>
            <a:off x="640080" y="3977639"/>
            <a:ext cx="5257800" cy="1783080"/>
          </a:xfrm>
          <a:prstGeom prst="roundRect">
            <a:avLst>
              <a:gd name="adj" fmla="val 3000"/>
            </a:avLst>
          </a:prstGeom>
          <a:solidFill>
            <a:srgbClr val="FFFFFF"/>
          </a:solidFill>
          <a:ln w="12700">
            <a:solidFill>
              <a:srgbClr val="DCE5EE"/>
            </a:solidFill>
          </a:ln>
          <a:effectLst/>
        </p:spPr>
        <p:txBody>
          <a:bodyPr rtlCol="0" anchor="ctr"/>
          <a:lstStyle/>
          <a:p>
            <a:pPr algn="ctr"/>
          </a:p>
        </p:txBody>
      </p:sp>
      <p:sp>
        <p:nvSpPr>
          <p:cNvPr id="19" name="Rectangle 18"/>
          <p:cNvSpPr/>
          <p:nvPr/>
        </p:nvSpPr>
        <p:spPr>
          <a:xfrm>
            <a:off x="640080" y="3977639"/>
            <a:ext cx="5257800" cy="45720"/>
          </a:xfrm>
          <a:prstGeom prst="rect">
            <a:avLst/>
          </a:prstGeom>
          <a:solidFill>
            <a:srgbClr val="2D7FBF"/>
          </a:solidFill>
          <a:ln>
            <a:noFill/>
          </a:ln>
          <a:effectLst/>
        </p:spPr>
        <p:txBody>
          <a:bodyPr rtlCol="0" anchor="ctr"/>
          <a:lstStyle/>
          <a:p>
            <a:pPr algn="ctr"/>
          </a:p>
        </p:txBody>
      </p:sp>
      <p:sp>
        <p:nvSpPr>
          <p:cNvPr id="20" name="Oval 19"/>
          <p:cNvSpPr/>
          <p:nvPr/>
        </p:nvSpPr>
        <p:spPr>
          <a:xfrm>
            <a:off x="896112" y="4206240"/>
            <a:ext cx="384048" cy="384048"/>
          </a:xfrm>
          <a:prstGeom prst="ellipse">
            <a:avLst/>
          </a:prstGeom>
          <a:solidFill>
            <a:srgbClr val="16283F"/>
          </a:solidFill>
          <a:ln>
            <a:noFill/>
          </a:ln>
          <a:effectLst/>
        </p:spPr>
        <p:txBody>
          <a:bodyPr rtlCol="0" anchor="ctr"/>
          <a:lstStyle/>
          <a:p>
            <a:pPr algn="ctr"/>
          </a:p>
        </p:txBody>
      </p:sp>
      <p:sp>
        <p:nvSpPr>
          <p:cNvPr id="21" name="TextBox 20"/>
          <p:cNvSpPr txBox="1"/>
          <p:nvPr/>
        </p:nvSpPr>
        <p:spPr>
          <a:xfrm>
            <a:off x="896112" y="4206240"/>
            <a:ext cx="384048" cy="384048"/>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Arial"/>
              </a:rPr>
              <a:t>3</a:t>
            </a:r>
          </a:p>
        </p:txBody>
      </p:sp>
      <p:sp>
        <p:nvSpPr>
          <p:cNvPr id="22" name="TextBox 21"/>
          <p:cNvSpPr txBox="1"/>
          <p:nvPr/>
        </p:nvSpPr>
        <p:spPr>
          <a:xfrm>
            <a:off x="896112" y="4709159"/>
            <a:ext cx="4745736"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283F"/>
                </a:solidFill>
                <a:latin typeface="Arial"/>
              </a:rPr>
              <a:t>Reliable and responsive</a:t>
            </a:r>
          </a:p>
        </p:txBody>
      </p:sp>
      <p:sp>
        <p:nvSpPr>
          <p:cNvPr id="23" name="TextBox 22"/>
          <p:cNvSpPr txBox="1"/>
          <p:nvPr/>
        </p:nvSpPr>
        <p:spPr>
          <a:xfrm>
            <a:off x="896112" y="5093207"/>
            <a:ext cx="4745736" cy="594359"/>
          </a:xfrm>
          <a:prstGeom prst="rect">
            <a:avLst/>
          </a:prstGeom>
          <a:noFill/>
        </p:spPr>
        <p:txBody>
          <a:bodyPr wrap="square" anchor="t" lIns="0" rIns="0" tIns="0" bIns="0">
            <a:spAutoFit/>
          </a:bodyPr>
          <a:lstStyle/>
          <a:p>
            <a:pPr algn="l">
              <a:lnSpc>
                <a:spcPct val="125000"/>
              </a:lnSpc>
              <a:spcAft>
                <a:spcPts val="0"/>
              </a:spcAft>
            </a:pPr>
            <a:r>
              <a:rPr sz="1100" b="0" i="0">
                <a:solidFill>
                  <a:srgbClr val="55677C"/>
                </a:solidFill>
                <a:latin typeface="Arial"/>
              </a:rPr>
              <a:t>Sessions are booked directly with your mentor. Document reviews come back within 7 working days. If something does not work, we sort it out.</a:t>
            </a:r>
          </a:p>
        </p:txBody>
      </p:sp>
      <p:sp>
        <p:nvSpPr>
          <p:cNvPr id="24" name="Rounded Rectangle 23"/>
          <p:cNvSpPr/>
          <p:nvPr/>
        </p:nvSpPr>
        <p:spPr>
          <a:xfrm>
            <a:off x="6263640" y="3977639"/>
            <a:ext cx="5257800" cy="1783080"/>
          </a:xfrm>
          <a:prstGeom prst="roundRect">
            <a:avLst>
              <a:gd name="adj" fmla="val 3000"/>
            </a:avLst>
          </a:prstGeom>
          <a:solidFill>
            <a:srgbClr val="FFFFFF"/>
          </a:solidFill>
          <a:ln w="12700">
            <a:solidFill>
              <a:srgbClr val="DCE5EE"/>
            </a:solidFill>
          </a:ln>
          <a:effectLst/>
        </p:spPr>
        <p:txBody>
          <a:bodyPr rtlCol="0" anchor="ctr"/>
          <a:lstStyle/>
          <a:p>
            <a:pPr algn="ctr"/>
          </a:p>
        </p:txBody>
      </p:sp>
      <p:sp>
        <p:nvSpPr>
          <p:cNvPr id="25" name="Rectangle 24"/>
          <p:cNvSpPr/>
          <p:nvPr/>
        </p:nvSpPr>
        <p:spPr>
          <a:xfrm>
            <a:off x="6263640" y="3977639"/>
            <a:ext cx="5257800" cy="45720"/>
          </a:xfrm>
          <a:prstGeom prst="rect">
            <a:avLst/>
          </a:prstGeom>
          <a:solidFill>
            <a:srgbClr val="2D7FBF"/>
          </a:solidFill>
          <a:ln>
            <a:noFill/>
          </a:ln>
          <a:effectLst/>
        </p:spPr>
        <p:txBody>
          <a:bodyPr rtlCol="0" anchor="ctr"/>
          <a:lstStyle/>
          <a:p>
            <a:pPr algn="ctr"/>
          </a:p>
        </p:txBody>
      </p:sp>
      <p:sp>
        <p:nvSpPr>
          <p:cNvPr id="26" name="Oval 25"/>
          <p:cNvSpPr/>
          <p:nvPr/>
        </p:nvSpPr>
        <p:spPr>
          <a:xfrm>
            <a:off x="6519672" y="4206240"/>
            <a:ext cx="384048" cy="384048"/>
          </a:xfrm>
          <a:prstGeom prst="ellipse">
            <a:avLst/>
          </a:prstGeom>
          <a:solidFill>
            <a:srgbClr val="16283F"/>
          </a:solidFill>
          <a:ln>
            <a:noFill/>
          </a:ln>
          <a:effectLst/>
        </p:spPr>
        <p:txBody>
          <a:bodyPr rtlCol="0" anchor="ctr"/>
          <a:lstStyle/>
          <a:p>
            <a:pPr algn="ctr"/>
          </a:p>
        </p:txBody>
      </p:sp>
      <p:sp>
        <p:nvSpPr>
          <p:cNvPr id="27" name="TextBox 26"/>
          <p:cNvSpPr txBox="1"/>
          <p:nvPr/>
        </p:nvSpPr>
        <p:spPr>
          <a:xfrm>
            <a:off x="6519672" y="4206240"/>
            <a:ext cx="384048" cy="384048"/>
          </a:xfrm>
          <a:prstGeom prst="rect">
            <a:avLst/>
          </a:prstGeom>
          <a:noFill/>
        </p:spPr>
        <p:txBody>
          <a:bodyPr wrap="square" anchor="ctr" lIns="0" rIns="0" tIns="0" bIns="0">
            <a:spAutoFit/>
          </a:bodyPr>
          <a:lstStyle/>
          <a:p>
            <a:pPr algn="ctr">
              <a:lnSpc>
                <a:spcPct val="115000"/>
              </a:lnSpc>
              <a:spcAft>
                <a:spcPts val="0"/>
              </a:spcAft>
            </a:pPr>
            <a:r>
              <a:rPr sz="1200" b="1" i="0">
                <a:solidFill>
                  <a:srgbClr val="FFFFFF"/>
                </a:solidFill>
                <a:latin typeface="Arial"/>
              </a:rPr>
              <a:t>4</a:t>
            </a:r>
          </a:p>
        </p:txBody>
      </p:sp>
      <p:sp>
        <p:nvSpPr>
          <p:cNvPr id="28" name="TextBox 27"/>
          <p:cNvSpPr txBox="1"/>
          <p:nvPr/>
        </p:nvSpPr>
        <p:spPr>
          <a:xfrm>
            <a:off x="6519672" y="4709159"/>
            <a:ext cx="4745736" cy="365760"/>
          </a:xfrm>
          <a:prstGeom prst="rect">
            <a:avLst/>
          </a:prstGeom>
          <a:noFill/>
        </p:spPr>
        <p:txBody>
          <a:bodyPr wrap="square" anchor="t" lIns="0" rIns="0" tIns="0" bIns="0">
            <a:spAutoFit/>
          </a:bodyPr>
          <a:lstStyle/>
          <a:p>
            <a:pPr algn="l">
              <a:lnSpc>
                <a:spcPct val="115000"/>
              </a:lnSpc>
              <a:spcAft>
                <a:spcPts val="0"/>
              </a:spcAft>
            </a:pPr>
            <a:r>
              <a:rPr sz="1500" b="1" i="0">
                <a:solidFill>
                  <a:srgbClr val="16283F"/>
                </a:solidFill>
                <a:latin typeface="Arial"/>
              </a:rPr>
              <a:t>We stay with you after your offer</a:t>
            </a:r>
          </a:p>
        </p:txBody>
      </p:sp>
      <p:sp>
        <p:nvSpPr>
          <p:cNvPr id="29" name="TextBox 28"/>
          <p:cNvSpPr txBox="1"/>
          <p:nvPr/>
        </p:nvSpPr>
        <p:spPr>
          <a:xfrm>
            <a:off x="6519672" y="5093207"/>
            <a:ext cx="4745736" cy="594359"/>
          </a:xfrm>
          <a:prstGeom prst="rect">
            <a:avLst/>
          </a:prstGeom>
          <a:noFill/>
        </p:spPr>
        <p:txBody>
          <a:bodyPr wrap="square" anchor="t" lIns="0" rIns="0" tIns="0" bIns="0">
            <a:spAutoFit/>
          </a:bodyPr>
          <a:lstStyle/>
          <a:p>
            <a:pPr algn="l">
              <a:lnSpc>
                <a:spcPct val="125000"/>
              </a:lnSpc>
              <a:spcAft>
                <a:spcPts val="0"/>
              </a:spcAft>
            </a:pPr>
            <a:r>
              <a:rPr sz="1100" b="0" i="0">
                <a:solidFill>
                  <a:srgbClr val="55677C"/>
                </a:solidFill>
                <a:latin typeface="Arial"/>
              </a:rPr>
              <a:t>Once you secure your place, you join the TAL peer and alumni network — and we hope you'll return as a mentor one day.</a:t>
            </a:r>
          </a:p>
        </p:txBody>
      </p:sp>
      <p:sp>
        <p:nvSpPr>
          <p:cNvPr id="30" name="TextBox 29"/>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3F"/>
          </a:solidFill>
          <a:ln>
            <a:noFill/>
          </a:ln>
          <a:effectLst/>
        </p:spPr>
        <p:txBody>
          <a:bodyPr rtlCol="0" anchor="ctr"/>
          <a:lstStyle/>
          <a:p>
            <a:pPr algn="ctr"/>
          </a:p>
        </p:txBody>
      </p:sp>
      <p:sp>
        <p:nvSpPr>
          <p:cNvPr id="3" name="TextBox 2"/>
          <p:cNvSpPr txBox="1"/>
          <p:nvPr/>
        </p:nvSpPr>
        <p:spPr>
          <a:xfrm>
            <a:off x="640080" y="777240"/>
            <a:ext cx="10881360" cy="320040"/>
          </a:xfrm>
          <a:prstGeom prst="rect">
            <a:avLst/>
          </a:prstGeom>
          <a:noFill/>
        </p:spPr>
        <p:txBody>
          <a:bodyPr wrap="square" anchor="t" lIns="0" rIns="0" tIns="0" bIns="0">
            <a:spAutoFit/>
          </a:bodyPr>
          <a:lstStyle/>
          <a:p>
            <a:pPr algn="ctr">
              <a:lnSpc>
                <a:spcPct val="115000"/>
              </a:lnSpc>
              <a:spcAft>
                <a:spcPts val="0"/>
              </a:spcAft>
            </a:pPr>
            <a:r>
              <a:rPr sz="1300" b="1" i="0" spc="140">
                <a:solidFill>
                  <a:srgbClr val="6BB6EE"/>
                </a:solidFill>
                <a:latin typeface="Arial"/>
              </a:rPr>
              <a:t>YOUR NEXT STEP</a:t>
            </a:r>
          </a:p>
        </p:txBody>
      </p:sp>
      <p:sp>
        <p:nvSpPr>
          <p:cNvPr id="4" name="TextBox 3"/>
          <p:cNvSpPr txBox="1"/>
          <p:nvPr/>
        </p:nvSpPr>
        <p:spPr>
          <a:xfrm>
            <a:off x="640080" y="1143000"/>
            <a:ext cx="10881360" cy="731520"/>
          </a:xfrm>
          <a:prstGeom prst="rect">
            <a:avLst/>
          </a:prstGeom>
          <a:noFill/>
        </p:spPr>
        <p:txBody>
          <a:bodyPr wrap="square" anchor="t" lIns="0" rIns="0" tIns="0" bIns="0">
            <a:spAutoFit/>
          </a:bodyPr>
          <a:lstStyle/>
          <a:p>
            <a:pPr algn="ctr">
              <a:lnSpc>
                <a:spcPct val="115000"/>
              </a:lnSpc>
              <a:spcAft>
                <a:spcPts val="0"/>
              </a:spcAft>
            </a:pPr>
            <a:r>
              <a:rPr sz="3400" b="1" i="0">
                <a:solidFill>
                  <a:srgbClr val="FFFFFF"/>
                </a:solidFill>
                <a:latin typeface="Arial"/>
              </a:rPr>
              <a:t>Ready to get started?</a:t>
            </a:r>
          </a:p>
        </p:txBody>
      </p:sp>
      <p:sp>
        <p:nvSpPr>
          <p:cNvPr id="5" name="TextBox 4"/>
          <p:cNvSpPr txBox="1"/>
          <p:nvPr/>
        </p:nvSpPr>
        <p:spPr>
          <a:xfrm>
            <a:off x="1709928" y="1965960"/>
            <a:ext cx="8778240" cy="548640"/>
          </a:xfrm>
          <a:prstGeom prst="rect">
            <a:avLst/>
          </a:prstGeom>
          <a:noFill/>
        </p:spPr>
        <p:txBody>
          <a:bodyPr wrap="square" anchor="t" lIns="0" rIns="0" tIns="0" bIns="0">
            <a:spAutoFit/>
          </a:bodyPr>
          <a:lstStyle/>
          <a:p>
            <a:pPr algn="ctr">
              <a:lnSpc>
                <a:spcPct val="135000"/>
              </a:lnSpc>
              <a:spcAft>
                <a:spcPts val="0"/>
              </a:spcAft>
            </a:pPr>
            <a:r>
              <a:rPr sz="1500" b="0" i="0">
                <a:solidFill>
                  <a:srgbClr val="C3D2E2"/>
                </a:solidFill>
                <a:latin typeface="Arial"/>
              </a:rPr>
              <a:t>Book a free discovery call and we will confirm your mentor match. It only takes 20 minutes.</a:t>
            </a:r>
          </a:p>
        </p:txBody>
      </p:sp>
      <p:sp>
        <p:nvSpPr>
          <p:cNvPr id="6" name="Rounded Rectangle 5"/>
          <p:cNvSpPr/>
          <p:nvPr/>
        </p:nvSpPr>
        <p:spPr>
          <a:xfrm>
            <a:off x="4498848" y="2697480"/>
            <a:ext cx="3200400" cy="621792"/>
          </a:xfrm>
          <a:prstGeom prst="roundRect">
            <a:avLst>
              <a:gd name="adj" fmla="val 15000"/>
            </a:avLst>
          </a:prstGeom>
          <a:solidFill>
            <a:srgbClr val="2D7FBF"/>
          </a:solidFill>
          <a:ln>
            <a:noFill/>
          </a:ln>
          <a:effectLst/>
        </p:spPr>
        <p:txBody>
          <a:bodyPr rtlCol="0" anchor="ctr"/>
          <a:lstStyle/>
          <a:p>
            <a:pPr algn="ctr"/>
          </a:p>
        </p:txBody>
      </p:sp>
      <p:sp>
        <p:nvSpPr>
          <p:cNvPr id="7" name="TextBox 6"/>
          <p:cNvSpPr txBox="1"/>
          <p:nvPr/>
        </p:nvSpPr>
        <p:spPr>
          <a:xfrm>
            <a:off x="4498848" y="2697480"/>
            <a:ext cx="3200400" cy="621792"/>
          </a:xfrm>
          <a:prstGeom prst="rect">
            <a:avLst/>
          </a:prstGeom>
          <a:noFill/>
        </p:spPr>
        <p:txBody>
          <a:bodyPr wrap="square" anchor="ctr" lIns="0" rIns="0" tIns="0" bIns="0">
            <a:spAutoFit/>
          </a:bodyPr>
          <a:lstStyle/>
          <a:p>
            <a:pPr algn="ctr">
              <a:lnSpc>
                <a:spcPct val="115000"/>
              </a:lnSpc>
              <a:spcAft>
                <a:spcPts val="0"/>
              </a:spcAft>
            </a:pPr>
            <a:r>
              <a:rPr sz="1500" b="1" i="0">
                <a:solidFill>
                  <a:srgbClr val="FFFFFF"/>
                </a:solidFill>
                <a:latin typeface="Arial"/>
              </a:rPr>
              <a:t>Book Your Free Discovery Call</a:t>
            </a:r>
          </a:p>
        </p:txBody>
      </p:sp>
      <p:sp>
        <p:nvSpPr>
          <p:cNvPr id="8" name="TextBox 7"/>
          <p:cNvSpPr txBox="1"/>
          <p:nvPr/>
        </p:nvSpPr>
        <p:spPr>
          <a:xfrm>
            <a:off x="640080" y="3520440"/>
            <a:ext cx="10881360" cy="365760"/>
          </a:xfrm>
          <a:prstGeom prst="rect">
            <a:avLst/>
          </a:prstGeom>
          <a:noFill/>
        </p:spPr>
        <p:txBody>
          <a:bodyPr wrap="square" anchor="t" lIns="0" rIns="0" tIns="0" bIns="0">
            <a:spAutoFit/>
          </a:bodyPr>
          <a:lstStyle/>
          <a:p>
            <a:pPr algn="ctr">
              <a:lnSpc>
                <a:spcPct val="115000"/>
              </a:lnSpc>
              <a:spcAft>
                <a:spcPts val="0"/>
              </a:spcAft>
            </a:pPr>
            <a:r>
              <a:rPr sz="1300" b="0" i="1">
                <a:solidFill>
                  <a:srgbClr val="9CB3C9"/>
                </a:solidFill>
                <a:latin typeface="Georgia"/>
              </a:rPr>
              <a:t>Have questions first? Email us at info@theapplicationlab.com</a:t>
            </a:r>
          </a:p>
        </p:txBody>
      </p:sp>
      <p:sp>
        <p:nvSpPr>
          <p:cNvPr id="9" name="TextBox 8"/>
          <p:cNvSpPr txBox="1"/>
          <p:nvPr/>
        </p:nvSpPr>
        <p:spPr>
          <a:xfrm>
            <a:off x="640080" y="4251960"/>
            <a:ext cx="10881360" cy="1280160"/>
          </a:xfrm>
          <a:prstGeom prst="rect">
            <a:avLst/>
          </a:prstGeom>
          <a:noFill/>
        </p:spPr>
        <p:txBody>
          <a:bodyPr wrap="square" anchor="t" lIns="0" rIns="0" tIns="0" bIns="0">
            <a:spAutoFit/>
          </a:bodyPr>
          <a:lstStyle/>
          <a:p>
            <a:pPr algn="ctr">
              <a:lnSpc>
                <a:spcPct val="115000"/>
              </a:lnSpc>
              <a:spcAft>
                <a:spcPts val="400"/>
              </a:spcAft>
            </a:pPr>
            <a:r>
              <a:rPr sz="1200" b="0" i="0">
                <a:solidFill>
                  <a:srgbClr val="8FA2B8"/>
                </a:solidFill>
                <a:latin typeface="Arial"/>
              </a:rPr>
              <a:t>Website: www.theapplicationlab.com</a:t>
            </a:r>
          </a:p>
          <a:p>
            <a:pPr algn="ctr">
              <a:lnSpc>
                <a:spcPct val="115000"/>
              </a:lnSpc>
              <a:spcAft>
                <a:spcPts val="400"/>
              </a:spcAft>
            </a:pPr>
            <a:r>
              <a:rPr sz="1200" b="0" i="0">
                <a:solidFill>
                  <a:srgbClr val="8FA2B8"/>
                </a:solidFill>
                <a:latin typeface="Arial"/>
              </a:rPr>
              <a:t>LinkedIn: linkedin.com/company/theapplicationlab</a:t>
            </a:r>
          </a:p>
          <a:p>
            <a:pPr algn="ctr">
              <a:lnSpc>
                <a:spcPct val="115000"/>
              </a:lnSpc>
              <a:spcAft>
                <a:spcPts val="400"/>
              </a:spcAft>
            </a:pPr>
            <a:r>
              <a:rPr sz="1200" b="0" i="0">
                <a:solidFill>
                  <a:srgbClr val="8FA2B8"/>
                </a:solidFill>
                <a:latin typeface="Arial"/>
              </a:rPr>
              <a:t>Instagram: instagram.com/theapplicationlab</a:t>
            </a:r>
          </a:p>
          <a:p>
            <a:pPr algn="ctr">
              <a:lnSpc>
                <a:spcPct val="115000"/>
              </a:lnSpc>
              <a:spcAft>
                <a:spcPts val="600"/>
              </a:spcAft>
            </a:pPr>
            <a:r>
              <a:rPr sz="1200" b="0" i="0">
                <a:solidFill>
                  <a:srgbClr val="8FA2B8"/>
                </a:solidFill>
                <a:latin typeface="Arial"/>
              </a:rPr>
              <a:t>YouTube: youtube.com/@TheApplicationLab</a:t>
            </a:r>
          </a:p>
        </p:txBody>
      </p:sp>
      <p:sp>
        <p:nvSpPr>
          <p:cNvPr id="10" name="Rectangle 9"/>
          <p:cNvSpPr/>
          <p:nvPr/>
        </p:nvSpPr>
        <p:spPr>
          <a:xfrm>
            <a:off x="640080" y="5989320"/>
            <a:ext cx="10881360" cy="9144"/>
          </a:xfrm>
          <a:prstGeom prst="rect">
            <a:avLst/>
          </a:prstGeom>
          <a:solidFill>
            <a:srgbClr val="33455C"/>
          </a:solidFill>
          <a:ln>
            <a:noFill/>
          </a:ln>
          <a:effectLst/>
        </p:spPr>
        <p:txBody>
          <a:bodyPr rtlCol="0" anchor="ctr"/>
          <a:lstStyle/>
          <a:p>
            <a:pPr algn="ctr"/>
          </a:p>
        </p:txBody>
      </p:sp>
      <p:sp>
        <p:nvSpPr>
          <p:cNvPr id="11" name="TextBox 10"/>
          <p:cNvSpPr txBox="1"/>
          <p:nvPr/>
        </p:nvSpPr>
        <p:spPr>
          <a:xfrm>
            <a:off x="640080" y="6172200"/>
            <a:ext cx="10881360" cy="365760"/>
          </a:xfrm>
          <a:prstGeom prst="rect">
            <a:avLst/>
          </a:prstGeom>
          <a:noFill/>
        </p:spPr>
        <p:txBody>
          <a:bodyPr wrap="square" anchor="t" lIns="0" rIns="0" tIns="0" bIns="0">
            <a:spAutoFit/>
          </a:bodyPr>
          <a:lstStyle/>
          <a:p>
            <a:pPr algn="ctr">
              <a:lnSpc>
                <a:spcPct val="115000"/>
              </a:lnSpc>
              <a:spcAft>
                <a:spcPts val="0"/>
              </a:spcAft>
            </a:pPr>
            <a:r>
              <a:rPr sz="1050" b="1" i="0">
                <a:solidFill>
                  <a:srgbClr val="6E819A"/>
                </a:solidFill>
                <a:latin typeface="Arial"/>
              </a:rPr>
              <a:t>THE APPLICATION LAB · 2026    Edspire Labs Ltd · Company No. 16751243 · Cambridge, UK</a:t>
            </a:r>
          </a:p>
        </p:txBody>
      </p:sp>
      <p:sp>
        <p:nvSpPr>
          <p:cNvPr id="12" name="TextBox 11"/>
          <p:cNvSpPr txBox="1"/>
          <p:nvPr/>
        </p:nvSpPr>
        <p:spPr>
          <a:xfrm>
            <a:off x="11475720" y="6510528"/>
            <a:ext cx="548640" cy="274320"/>
          </a:xfrm>
          <a:prstGeom prst="rect">
            <a:avLst/>
          </a:prstGeom>
          <a:noFill/>
        </p:spPr>
        <p:txBody>
          <a:bodyPr wrap="square" anchor="t" lIns="0" rIns="0" tIns="0" bIns="0">
            <a:spAutoFit/>
          </a:bodyPr>
          <a:lstStyle/>
          <a:p>
            <a:pPr algn="r">
              <a:lnSpc>
                <a:spcPct val="115000"/>
              </a:lnSpc>
              <a:spcAft>
                <a:spcPts val="0"/>
              </a:spcAft>
            </a:pPr>
            <a:r>
              <a:rPr sz="1000" b="0" i="0">
                <a:solidFill>
                  <a:srgbClr val="8FA2B8"/>
                </a:solidFill>
                <a:latin typeface="Arial"/>
              </a:rPr>
              <a:t>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